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4260" r:id="rId1"/>
  </p:sldMasterIdLst>
  <p:notesMasterIdLst>
    <p:notesMasterId r:id="rId16"/>
  </p:notesMasterIdLst>
  <p:sldIdLst>
    <p:sldId id="269" r:id="rId2"/>
    <p:sldId id="270" r:id="rId3"/>
    <p:sldId id="271" r:id="rId4"/>
    <p:sldId id="272" r:id="rId5"/>
    <p:sldId id="274" r:id="rId6"/>
    <p:sldId id="275" r:id="rId7"/>
    <p:sldId id="276" r:id="rId8"/>
    <p:sldId id="278" r:id="rId9"/>
    <p:sldId id="279" r:id="rId10"/>
    <p:sldId id="281" r:id="rId11"/>
    <p:sldId id="282" r:id="rId12"/>
    <p:sldId id="283" r:id="rId13"/>
    <p:sldId id="284" r:id="rId14"/>
    <p:sldId id="285" r:id="rId1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224" autoAdjust="0"/>
    <p:restoredTop sz="94660"/>
  </p:normalViewPr>
  <p:slideViewPr>
    <p:cSldViewPr snapToGrid="0">
      <p:cViewPr varScale="1">
        <p:scale>
          <a:sx n="94" d="100"/>
          <a:sy n="94" d="100"/>
        </p:scale>
        <p:origin x="-456" y="-68"/>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10212847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7C9B81F-C347-4BEF-BFDF-29C42F48304A}" type="datetimeFigureOut">
              <a:rPr lang="en-US" smtClean="0"/>
              <a:pPr/>
              <a:t>3/26/2020</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a:t>
            </a:fld>
            <a:endParaRPr lang="en-GB"/>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7C9B81F-C347-4BEF-BFDF-29C42F48304A}" type="datetimeFigureOut">
              <a:rPr lang="en-US" smtClean="0"/>
              <a:pPr/>
              <a:t>3/26/2020</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a:t>
            </a:fld>
            <a:endParaRPr lang="en-GB"/>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7C9B81F-C347-4BEF-BFDF-29C42F48304A}" type="datetimeFigureOut">
              <a:rPr lang="en-US" smtClean="0"/>
              <a:pPr/>
              <a:t>3/26/2020</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a:t>
            </a:fld>
            <a:endParaRPr lang="en-GB"/>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7C9B81F-C347-4BEF-BFDF-29C42F48304A}" type="datetimeFigureOut">
              <a:rPr lang="en-US" smtClean="0"/>
              <a:pPr/>
              <a:t>3/26/2020</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a:t>
            </a:fld>
            <a:endParaRPr lang="en-GB"/>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7C9B81F-C347-4BEF-BFDF-29C42F48304A}" type="datetimeFigureOut">
              <a:rPr lang="en-US" smtClean="0"/>
              <a:pPr/>
              <a:t>3/26/2020</a:t>
            </a:fld>
            <a:endParaRPr lang="en-US"/>
          </a:p>
        </p:txBody>
      </p:sp>
      <p:sp>
        <p:nvSpPr>
          <p:cNvPr id="8" name="Footer Placeholder 7"/>
          <p:cNvSpPr>
            <a:spLocks noGrp="1"/>
          </p:cNvSpPr>
          <p:nvPr>
            <p:ph type="ftr" sz="quarter" idx="11"/>
          </p:nvPr>
        </p:nvSpPr>
        <p:spPr/>
        <p:txBody>
          <a:bodyPr/>
          <a:lstStyle/>
          <a:p>
            <a:endParaRPr kumimoji="0" lang="en-US"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a:t>
            </a:fld>
            <a:endParaRPr lang="en-GB"/>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7C9B81F-C347-4BEF-BFDF-29C42F48304A}" type="datetimeFigureOut">
              <a:rPr lang="en-US" smtClean="0"/>
              <a:pPr/>
              <a:t>3/26/2020</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a:t>
            </a:fld>
            <a:endParaRPr lang="en-GB"/>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C9B81F-C347-4BEF-BFDF-29C42F48304A}" type="datetimeFigureOut">
              <a:rPr lang="en-US" smtClean="0"/>
              <a:pPr/>
              <a:t>3/26/2020</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a:t>
            </a:fld>
            <a:endParaRPr lang="en-GB"/>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7C9B81F-C347-4BEF-BFDF-29C42F48304A}" type="datetimeFigureOut">
              <a:rPr lang="en-US" smtClean="0"/>
              <a:pPr/>
              <a:t>3/26/2020</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a:t>
            </a:fld>
            <a:endParaRPr lang="en-GB"/>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7C9B81F-C347-4BEF-BFDF-29C42F48304A}" type="datetimeFigureOut">
              <a:rPr lang="en-US" smtClean="0"/>
              <a:pPr/>
              <a:t>3/26/2020</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a:t>
            </a:fld>
            <a:endParaRPr lang="en-GB"/>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7C9B81F-C347-4BEF-BFDF-29C42F48304A}" type="datetimeFigureOut">
              <a:rPr lang="en-US" smtClean="0"/>
              <a:pPr/>
              <a:t>3/26/2020</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a:t>
            </a:fld>
            <a:endParaRPr lang="en-GB"/>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7C9B81F-C347-4BEF-BFDF-29C42F48304A}" type="datetimeFigureOut">
              <a:rPr lang="en-US" smtClean="0"/>
              <a:pPr/>
              <a:t>3/26/2020</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a:t>
            </a:fld>
            <a:endParaRPr lang="en-GB"/>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47C9B81F-C347-4BEF-BFDF-29C42F48304A}" type="datetimeFigureOut">
              <a:rPr lang="en-US" smtClean="0"/>
              <a:pPr/>
              <a:t>3/26/2020</a:t>
            </a:fld>
            <a:endParaRPr lang="en-US" dirty="0">
              <a:solidFill>
                <a:schemeClr val="tx2">
                  <a:shade val="90000"/>
                </a:schemeClr>
              </a:solidFill>
            </a:endParaRPr>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pPr algn="l" eaLnBrk="1" latinLnBrk="0" hangingPunct="1"/>
            <a:endParaRPr kumimoji="0" lang="en-US" dirty="0">
              <a:solidFill>
                <a:schemeClr val="tx2">
                  <a:shade val="90000"/>
                </a:schemeClr>
              </a:solidFill>
            </a:endParaRP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a:t>
            </a:fld>
            <a:endParaRPr lang="en-GB"/>
          </a:p>
        </p:txBody>
      </p:sp>
    </p:spTree>
  </p:cSld>
  <p:clrMap bg1="lt1" tx1="dk1" bg2="lt2" tx2="dk2" accent1="accent1" accent2="accent2" accent3="accent3" accent4="accent4" accent5="accent5" accent6="accent6" hlink="hlink" folHlink="folHlink"/>
  <p:sldLayoutIdLst>
    <p:sldLayoutId id="2147484261" r:id="rId1"/>
    <p:sldLayoutId id="2147484262" r:id="rId2"/>
    <p:sldLayoutId id="2147484263" r:id="rId3"/>
    <p:sldLayoutId id="2147484264" r:id="rId4"/>
    <p:sldLayoutId id="2147484265" r:id="rId5"/>
    <p:sldLayoutId id="2147484266" r:id="rId6"/>
    <p:sldLayoutId id="2147484267" r:id="rId7"/>
    <p:sldLayoutId id="2147484268" r:id="rId8"/>
    <p:sldLayoutId id="2147484269" r:id="rId9"/>
    <p:sldLayoutId id="2147484270" r:id="rId10"/>
    <p:sldLayoutId id="2147484271" r:id="rId11"/>
    <p:sldLayoutId id="2147484272" r:id="rId12"/>
    <p:sldLayoutId id="2147484273" r:id="rId13"/>
    <p:sldLayoutId id="2147484274" r:id="rId1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4.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00" y="-126123"/>
            <a:ext cx="8520600" cy="441434"/>
          </a:xfrm>
        </p:spPr>
        <p:txBody>
          <a:bodyPr/>
          <a:lstStyle/>
          <a:p>
            <a:pPr algn="ctr"/>
            <a:r>
              <a:rPr lang="en-US" sz="2400" dirty="0" smtClean="0">
                <a:latin typeface="+mn-lt"/>
              </a:rPr>
              <a:t>DATA PREPROCESSING STEPS</a:t>
            </a:r>
            <a:endParaRPr lang="en-US" sz="2400" dirty="0">
              <a:latin typeface="+mn-lt"/>
            </a:endParaRPr>
          </a:p>
        </p:txBody>
      </p:sp>
      <p:sp>
        <p:nvSpPr>
          <p:cNvPr id="3" name="Text Placeholder 2"/>
          <p:cNvSpPr>
            <a:spLocks noGrp="1"/>
          </p:cNvSpPr>
          <p:nvPr>
            <p:ph type="body" idx="1"/>
          </p:nvPr>
        </p:nvSpPr>
        <p:spPr>
          <a:xfrm>
            <a:off x="0" y="388884"/>
            <a:ext cx="9144000" cy="4179992"/>
          </a:xfrm>
        </p:spPr>
        <p:txBody>
          <a:bodyPr/>
          <a:lstStyle/>
          <a:p>
            <a:r>
              <a:rPr lang="en-US" sz="1400" dirty="0" smtClean="0">
                <a:latin typeface="Calibri" pitchFamily="34" charset="0"/>
              </a:rPr>
              <a:t>Welcome to the step-1: Data preprocessing and this is the crucial steps the journey of making a machine </a:t>
            </a:r>
            <a:r>
              <a:rPr lang="en-US" sz="1400" dirty="0" err="1" smtClean="0">
                <a:latin typeface="Calibri" pitchFamily="34" charset="0"/>
              </a:rPr>
              <a:t>learing</a:t>
            </a:r>
            <a:r>
              <a:rPr lang="en-US" sz="1400" dirty="0" smtClean="0">
                <a:latin typeface="Calibri" pitchFamily="34" charset="0"/>
              </a:rPr>
              <a:t> models. If there is no data preprocessing then your machine learning model wont work</a:t>
            </a:r>
          </a:p>
          <a:p>
            <a:r>
              <a:rPr lang="en-US" sz="1400" dirty="0" err="1" smtClean="0">
                <a:latin typeface="Calibri" pitchFamily="34" charset="0"/>
              </a:rPr>
              <a:t>E.g</a:t>
            </a:r>
            <a:r>
              <a:rPr lang="en-US" sz="1400" dirty="0" smtClean="0">
                <a:latin typeface="Calibri" pitchFamily="34" charset="0"/>
              </a:rPr>
              <a:t> -  if you going for long trip you are packing your luggage and make a plan for food, cloth, room booking . So if your </a:t>
            </a:r>
            <a:r>
              <a:rPr lang="en-US" sz="1400" dirty="0" err="1" smtClean="0">
                <a:latin typeface="Calibri" pitchFamily="34" charset="0"/>
              </a:rPr>
              <a:t>preplaned</a:t>
            </a:r>
            <a:r>
              <a:rPr lang="en-US" sz="1400" dirty="0" smtClean="0">
                <a:latin typeface="Calibri" pitchFamily="34" charset="0"/>
              </a:rPr>
              <a:t> in correct way then your trip would be enjoyable or else it will make you problem if you forget anything</a:t>
            </a:r>
          </a:p>
          <a:p>
            <a:endParaRPr lang="en-US" sz="1400" dirty="0">
              <a:latin typeface="Calibri" pitchFamily="34" charset="0"/>
            </a:endParaRPr>
          </a:p>
        </p:txBody>
      </p:sp>
      <p:pic>
        <p:nvPicPr>
          <p:cNvPr id="4" name="Picture 3" descr="ML-Data preprocessing.PNG"/>
          <p:cNvPicPr>
            <a:picLocks noChangeAspect="1"/>
          </p:cNvPicPr>
          <p:nvPr/>
        </p:nvPicPr>
        <p:blipFill>
          <a:blip r:embed="rId2"/>
          <a:stretch>
            <a:fillRect/>
          </a:stretch>
        </p:blipFill>
        <p:spPr>
          <a:xfrm>
            <a:off x="0" y="1751308"/>
            <a:ext cx="9144000" cy="3392192"/>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00" y="1"/>
            <a:ext cx="8520600" cy="513347"/>
          </a:xfrm>
        </p:spPr>
        <p:txBody>
          <a:bodyPr/>
          <a:lstStyle/>
          <a:p>
            <a:pPr algn="ctr"/>
            <a:r>
              <a:rPr lang="en-US" sz="2400" dirty="0" smtClean="0">
                <a:latin typeface="+mn-lt"/>
              </a:rPr>
              <a:t>HOW TO DOWNLOAD THE DATASET</a:t>
            </a:r>
            <a:endParaRPr lang="en-US" sz="2400" dirty="0">
              <a:latin typeface="+mn-lt"/>
            </a:endParaRPr>
          </a:p>
        </p:txBody>
      </p:sp>
      <p:sp>
        <p:nvSpPr>
          <p:cNvPr id="3" name="Text Placeholder 2"/>
          <p:cNvSpPr>
            <a:spLocks noGrp="1"/>
          </p:cNvSpPr>
          <p:nvPr>
            <p:ph type="body" idx="1"/>
          </p:nvPr>
        </p:nvSpPr>
        <p:spPr>
          <a:xfrm>
            <a:off x="0" y="449179"/>
            <a:ext cx="9144000" cy="4694321"/>
          </a:xfrm>
        </p:spPr>
        <p:txBody>
          <a:bodyPr/>
          <a:lstStyle/>
          <a:p>
            <a:r>
              <a:rPr lang="en-US" sz="1400" dirty="0" smtClean="0">
                <a:latin typeface="Calibri" pitchFamily="34" charset="0"/>
              </a:rPr>
              <a:t>Multiple way you can download the dataset and you can do it from </a:t>
            </a:r>
            <a:r>
              <a:rPr lang="en-US" sz="1400" dirty="0" err="1" smtClean="0">
                <a:latin typeface="Calibri" pitchFamily="34" charset="0"/>
              </a:rPr>
              <a:t>google</a:t>
            </a:r>
            <a:r>
              <a:rPr lang="en-US" sz="1400" dirty="0" smtClean="0">
                <a:latin typeface="Calibri" pitchFamily="34" charset="0"/>
              </a:rPr>
              <a:t> or </a:t>
            </a:r>
            <a:r>
              <a:rPr lang="en-US" sz="1400" dirty="0" err="1" smtClean="0">
                <a:latin typeface="Calibri" pitchFamily="34" charset="0"/>
              </a:rPr>
              <a:t>kaggle</a:t>
            </a:r>
            <a:r>
              <a:rPr lang="en-US" sz="1400" dirty="0" smtClean="0">
                <a:latin typeface="Calibri" pitchFamily="34" charset="0"/>
              </a:rPr>
              <a:t>, but for real time scenario you have to build the </a:t>
            </a:r>
            <a:r>
              <a:rPr lang="en-US" sz="1400" dirty="0" err="1" smtClean="0">
                <a:latin typeface="Calibri" pitchFamily="34" charset="0"/>
              </a:rPr>
              <a:t>the</a:t>
            </a:r>
            <a:r>
              <a:rPr lang="en-US" sz="1400" dirty="0" smtClean="0">
                <a:latin typeface="Calibri" pitchFamily="34" charset="0"/>
              </a:rPr>
              <a:t> dataset from different way and we will discuss later regarding the real time </a:t>
            </a:r>
            <a:r>
              <a:rPr lang="en-US" sz="1400" dirty="0" err="1" smtClean="0">
                <a:latin typeface="Calibri" pitchFamily="34" charset="0"/>
              </a:rPr>
              <a:t>scnario</a:t>
            </a:r>
            <a:endParaRPr lang="en-US" sz="1400" dirty="0" smtClean="0">
              <a:latin typeface="Calibri" pitchFamily="34" charset="0"/>
            </a:endParaRPr>
          </a:p>
          <a:p>
            <a:r>
              <a:rPr lang="en-US" sz="1400" dirty="0" smtClean="0">
                <a:latin typeface="Calibri" pitchFamily="34" charset="0"/>
              </a:rPr>
              <a:t>Simple dataset is contain 4 column &amp; 10 observation. Dataset explains about company &amp; country information, product is purchased or not by the customer along with the salary. So we have to distinguish very important thing</a:t>
            </a:r>
          </a:p>
          <a:p>
            <a:r>
              <a:rPr lang="en-US" sz="1400" dirty="0" smtClean="0">
                <a:latin typeface="Calibri" pitchFamily="34" charset="0"/>
              </a:rPr>
              <a:t>What is independent variable is fist 3 columns and dependent variable is last column &amp; in any Machine learning we will  use </a:t>
            </a:r>
            <a:r>
              <a:rPr lang="en-US" sz="1400" dirty="0" err="1" smtClean="0">
                <a:latin typeface="Calibri" pitchFamily="34" charset="0"/>
              </a:rPr>
              <a:t>inde</a:t>
            </a:r>
            <a:r>
              <a:rPr lang="en-US" sz="1400" dirty="0" smtClean="0">
                <a:latin typeface="Calibri" pitchFamily="34" charset="0"/>
              </a:rPr>
              <a:t> </a:t>
            </a:r>
            <a:r>
              <a:rPr lang="en-US" sz="1400" dirty="0" err="1" smtClean="0">
                <a:latin typeface="Calibri" pitchFamily="34" charset="0"/>
              </a:rPr>
              <a:t>var</a:t>
            </a:r>
            <a:r>
              <a:rPr lang="en-US" sz="1400" dirty="0" smtClean="0">
                <a:latin typeface="Calibri" pitchFamily="34" charset="0"/>
              </a:rPr>
              <a:t> to predict the </a:t>
            </a:r>
            <a:r>
              <a:rPr lang="en-US" sz="1400" dirty="0" err="1" smtClean="0">
                <a:latin typeface="Calibri" pitchFamily="34" charset="0"/>
              </a:rPr>
              <a:t>depe</a:t>
            </a:r>
            <a:r>
              <a:rPr lang="en-US" sz="1400" dirty="0" smtClean="0">
                <a:latin typeface="Calibri" pitchFamily="34" charset="0"/>
              </a:rPr>
              <a:t> and in this dataset we will find out the customer is purchase the product or not</a:t>
            </a:r>
          </a:p>
          <a:p>
            <a:r>
              <a:rPr lang="en-US" sz="1400" dirty="0" smtClean="0">
                <a:latin typeface="Calibri" pitchFamily="34" charset="0"/>
              </a:rPr>
              <a:t>This is very important to build ML models</a:t>
            </a:r>
          </a:p>
          <a:p>
            <a:endParaRPr lang="en-US" sz="1400" dirty="0" smtClean="0">
              <a:latin typeface="Calibri" pitchFamily="34" charset="0"/>
            </a:endParaRPr>
          </a:p>
          <a:p>
            <a:endParaRPr lang="en-US" sz="1400" dirty="0" smtClean="0">
              <a:latin typeface="Calibri" pitchFamily="34" charset="0"/>
            </a:endParaRPr>
          </a:p>
          <a:p>
            <a:endParaRPr lang="en-US" sz="1400" dirty="0">
              <a:latin typeface="Calibri" pitchFamily="34" charset="0"/>
            </a:endParaRPr>
          </a:p>
        </p:txBody>
      </p:sp>
      <p:pic>
        <p:nvPicPr>
          <p:cNvPr id="4" name="Picture 3" descr="Data preprocesisng dataset.PNG"/>
          <p:cNvPicPr>
            <a:picLocks noChangeAspect="1"/>
          </p:cNvPicPr>
          <p:nvPr/>
        </p:nvPicPr>
        <p:blipFill>
          <a:blip r:embed="rId2"/>
          <a:stretch>
            <a:fillRect/>
          </a:stretch>
        </p:blipFill>
        <p:spPr>
          <a:xfrm>
            <a:off x="1" y="2123090"/>
            <a:ext cx="6463862" cy="3020410"/>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00" y="1"/>
            <a:ext cx="8520600" cy="449178"/>
          </a:xfrm>
        </p:spPr>
        <p:txBody>
          <a:bodyPr/>
          <a:lstStyle/>
          <a:p>
            <a:pPr algn="ctr"/>
            <a:r>
              <a:rPr lang="en-US" sz="1800" dirty="0" smtClean="0">
                <a:latin typeface="+mn-lt"/>
              </a:rPr>
              <a:t>IMPORT THE LIBRARIES USING PYTHON &amp; IMPORTING THE DATASET</a:t>
            </a:r>
            <a:endParaRPr lang="en-US" sz="1800" dirty="0">
              <a:latin typeface="+mn-lt"/>
            </a:endParaRPr>
          </a:p>
        </p:txBody>
      </p:sp>
      <p:sp>
        <p:nvSpPr>
          <p:cNvPr id="3" name="Text Placeholder 2"/>
          <p:cNvSpPr>
            <a:spLocks noGrp="1"/>
          </p:cNvSpPr>
          <p:nvPr>
            <p:ph type="body" idx="1"/>
          </p:nvPr>
        </p:nvSpPr>
        <p:spPr>
          <a:xfrm>
            <a:off x="0" y="497305"/>
            <a:ext cx="9144000" cy="4646195"/>
          </a:xfrm>
        </p:spPr>
        <p:txBody>
          <a:bodyPr/>
          <a:lstStyle/>
          <a:p>
            <a:r>
              <a:rPr lang="en-US" sz="1400" dirty="0" smtClean="0">
                <a:latin typeface="Calibri" pitchFamily="34" charset="0"/>
              </a:rPr>
              <a:t>Importing the library – What is Library? Library is </a:t>
            </a:r>
            <a:r>
              <a:rPr lang="en-US" sz="1400" dirty="0" err="1" smtClean="0">
                <a:latin typeface="Calibri" pitchFamily="34" charset="0"/>
              </a:rPr>
              <a:t>interal</a:t>
            </a:r>
            <a:r>
              <a:rPr lang="en-US" sz="1400" dirty="0" smtClean="0">
                <a:latin typeface="Calibri" pitchFamily="34" charset="0"/>
              </a:rPr>
              <a:t> system building tools to use make specific job. You just give </a:t>
            </a:r>
            <a:r>
              <a:rPr lang="en-US" sz="1400" dirty="0" err="1" smtClean="0">
                <a:latin typeface="Calibri" pitchFamily="34" charset="0"/>
              </a:rPr>
              <a:t>i</a:t>
            </a:r>
            <a:r>
              <a:rPr lang="en-US" sz="1400" dirty="0" smtClean="0">
                <a:latin typeface="Calibri" pitchFamily="34" charset="0"/>
              </a:rPr>
              <a:t>/p and  </a:t>
            </a:r>
            <a:r>
              <a:rPr lang="en-US" sz="1400" dirty="0" err="1" smtClean="0">
                <a:latin typeface="Calibri" pitchFamily="34" charset="0"/>
              </a:rPr>
              <a:t>Librarie</a:t>
            </a:r>
            <a:r>
              <a:rPr lang="en-US" sz="1400" dirty="0" smtClean="0">
                <a:latin typeface="Calibri" pitchFamily="34" charset="0"/>
              </a:rPr>
              <a:t> will gives you the output.</a:t>
            </a:r>
          </a:p>
          <a:p>
            <a:r>
              <a:rPr lang="en-US" sz="1400" dirty="0" smtClean="0">
                <a:latin typeface="Calibri" pitchFamily="34" charset="0"/>
              </a:rPr>
              <a:t>1</a:t>
            </a:r>
            <a:r>
              <a:rPr lang="en-US" sz="1400" baseline="30000" dirty="0" smtClean="0">
                <a:latin typeface="Calibri" pitchFamily="34" charset="0"/>
              </a:rPr>
              <a:t>st</a:t>
            </a:r>
            <a:r>
              <a:rPr lang="en-US" sz="1400" dirty="0" smtClean="0">
                <a:latin typeface="Calibri" pitchFamily="34" charset="0"/>
              </a:rPr>
              <a:t> library which is very essential NUMPY – system build </a:t>
            </a:r>
            <a:r>
              <a:rPr lang="en-US" sz="1400" dirty="0" err="1" smtClean="0">
                <a:latin typeface="Calibri" pitchFamily="34" charset="0"/>
              </a:rPr>
              <a:t>mathmetical</a:t>
            </a:r>
            <a:r>
              <a:rPr lang="en-US" sz="1400" dirty="0" smtClean="0">
                <a:latin typeface="Calibri" pitchFamily="34" charset="0"/>
              </a:rPr>
              <a:t> tools and any type of </a:t>
            </a:r>
            <a:r>
              <a:rPr lang="en-US" sz="1400" dirty="0" err="1" smtClean="0">
                <a:latin typeface="Calibri" pitchFamily="34" charset="0"/>
              </a:rPr>
              <a:t>mathmetics</a:t>
            </a:r>
            <a:r>
              <a:rPr lang="en-US" sz="1400" dirty="0" smtClean="0">
                <a:latin typeface="Calibri" pitchFamily="34" charset="0"/>
              </a:rPr>
              <a:t> code , since Machine learning is </a:t>
            </a:r>
            <a:r>
              <a:rPr lang="en-US" sz="1400" dirty="0" err="1" smtClean="0">
                <a:latin typeface="Calibri" pitchFamily="34" charset="0"/>
              </a:rPr>
              <a:t>mathmetic</a:t>
            </a:r>
            <a:r>
              <a:rPr lang="en-US" sz="1400" dirty="0" smtClean="0">
                <a:latin typeface="Calibri" pitchFamily="34" charset="0"/>
              </a:rPr>
              <a:t> codes  absolutely need </a:t>
            </a:r>
            <a:r>
              <a:rPr lang="en-US" sz="1400" dirty="0" err="1" smtClean="0">
                <a:latin typeface="Calibri" pitchFamily="34" charset="0"/>
              </a:rPr>
              <a:t>numpy</a:t>
            </a:r>
            <a:r>
              <a:rPr lang="en-US" sz="1400" dirty="0" smtClean="0">
                <a:latin typeface="Calibri" pitchFamily="34" charset="0"/>
              </a:rPr>
              <a:t>  and we create  a short cut key (import </a:t>
            </a:r>
            <a:r>
              <a:rPr lang="en-US" sz="1400" dirty="0" err="1" smtClean="0">
                <a:latin typeface="Calibri" pitchFamily="34" charset="0"/>
              </a:rPr>
              <a:t>numpy</a:t>
            </a:r>
            <a:r>
              <a:rPr lang="en-US" sz="1400" dirty="0" smtClean="0">
                <a:latin typeface="Calibri" pitchFamily="34" charset="0"/>
              </a:rPr>
              <a:t> as </a:t>
            </a:r>
            <a:r>
              <a:rPr lang="en-US" sz="1400" dirty="0" err="1" smtClean="0">
                <a:latin typeface="Calibri" pitchFamily="34" charset="0"/>
              </a:rPr>
              <a:t>np</a:t>
            </a:r>
            <a:r>
              <a:rPr lang="en-US" sz="1400" dirty="0" smtClean="0">
                <a:latin typeface="Calibri" pitchFamily="34" charset="0"/>
              </a:rPr>
              <a:t>) the reason why we assigned short cut key because for entire </a:t>
            </a:r>
            <a:r>
              <a:rPr lang="en-US" sz="1400" dirty="0" err="1" smtClean="0">
                <a:latin typeface="Calibri" pitchFamily="34" charset="0"/>
              </a:rPr>
              <a:t>programme</a:t>
            </a:r>
            <a:r>
              <a:rPr lang="en-US" sz="1400" dirty="0" smtClean="0">
                <a:latin typeface="Calibri" pitchFamily="34" charset="0"/>
              </a:rPr>
              <a:t> we don’t write </a:t>
            </a:r>
            <a:r>
              <a:rPr lang="en-US" sz="1400" dirty="0" err="1" smtClean="0">
                <a:latin typeface="Calibri" pitchFamily="34" charset="0"/>
              </a:rPr>
              <a:t>numpy</a:t>
            </a:r>
            <a:r>
              <a:rPr lang="en-US" sz="1400" dirty="0" smtClean="0">
                <a:latin typeface="Calibri" pitchFamily="34" charset="0"/>
              </a:rPr>
              <a:t> instead of that we can type just </a:t>
            </a:r>
            <a:r>
              <a:rPr lang="en-US" sz="1400" dirty="0" err="1" smtClean="0">
                <a:latin typeface="Calibri" pitchFamily="34" charset="0"/>
              </a:rPr>
              <a:t>np</a:t>
            </a:r>
            <a:r>
              <a:rPr lang="en-US" sz="1400" dirty="0" smtClean="0">
                <a:latin typeface="Calibri" pitchFamily="34" charset="0"/>
              </a:rPr>
              <a:t>.</a:t>
            </a:r>
          </a:p>
          <a:p>
            <a:r>
              <a:rPr lang="en-US" sz="1400" dirty="0" smtClean="0">
                <a:latin typeface="Calibri" pitchFamily="34" charset="0"/>
              </a:rPr>
              <a:t>2</a:t>
            </a:r>
            <a:r>
              <a:rPr lang="en-US" sz="1400" baseline="30000" dirty="0" smtClean="0">
                <a:latin typeface="Calibri" pitchFamily="34" charset="0"/>
              </a:rPr>
              <a:t>nd</a:t>
            </a:r>
            <a:r>
              <a:rPr lang="en-US" sz="1400" dirty="0" smtClean="0">
                <a:latin typeface="Calibri" pitchFamily="34" charset="0"/>
              </a:rPr>
              <a:t> essential library is  </a:t>
            </a:r>
            <a:r>
              <a:rPr lang="en-US" sz="1400" dirty="0" err="1" smtClean="0">
                <a:latin typeface="Calibri" pitchFamily="34" charset="0"/>
              </a:rPr>
              <a:t>matplotlib</a:t>
            </a:r>
            <a:r>
              <a:rPr lang="en-US" sz="1400" dirty="0" smtClean="0">
                <a:latin typeface="Calibri" pitchFamily="34" charset="0"/>
              </a:rPr>
              <a:t>  is for visualization can done by stats so machine could visualize the coding  &amp; it will show the plot diagrams and you can more understand later</a:t>
            </a:r>
          </a:p>
          <a:p>
            <a:r>
              <a:rPr lang="en-US" sz="1400" dirty="0" smtClean="0">
                <a:latin typeface="Calibri" pitchFamily="34" charset="0"/>
              </a:rPr>
              <a:t>3</a:t>
            </a:r>
            <a:r>
              <a:rPr lang="en-US" sz="1400" baseline="30000" dirty="0" smtClean="0">
                <a:latin typeface="Calibri" pitchFamily="34" charset="0"/>
              </a:rPr>
              <a:t>rd</a:t>
            </a:r>
            <a:r>
              <a:rPr lang="en-US" sz="1400" dirty="0" smtClean="0">
                <a:latin typeface="Calibri" pitchFamily="34" charset="0"/>
              </a:rPr>
              <a:t> essential lib as PANDAS – best library to import and manage the dataset using </a:t>
            </a:r>
            <a:r>
              <a:rPr lang="en-US" sz="1400" dirty="0" err="1" smtClean="0">
                <a:latin typeface="Calibri" pitchFamily="34" charset="0"/>
              </a:rPr>
              <a:t>dataframes</a:t>
            </a:r>
            <a:endParaRPr lang="en-US" sz="1400" dirty="0" smtClean="0">
              <a:latin typeface="Calibri" pitchFamily="34" charset="0"/>
            </a:endParaRPr>
          </a:p>
          <a:p>
            <a:pPr>
              <a:buNone/>
            </a:pPr>
            <a:endParaRPr lang="en-US" sz="2000" b="1" dirty="0" smtClean="0">
              <a:latin typeface="Calibri" pitchFamily="34" charset="0"/>
            </a:endParaRPr>
          </a:p>
          <a:p>
            <a:pPr>
              <a:buNone/>
            </a:pPr>
            <a:r>
              <a:rPr lang="en-US" sz="2000" b="1" dirty="0" smtClean="0">
                <a:latin typeface="Calibri" pitchFamily="34" charset="0"/>
              </a:rPr>
              <a:t>IMPORTING THE DATASET</a:t>
            </a:r>
          </a:p>
          <a:p>
            <a:endParaRPr lang="en-US" sz="1400" dirty="0" smtClean="0">
              <a:latin typeface="Calibri" pitchFamily="34" charset="0"/>
            </a:endParaRPr>
          </a:p>
          <a:p>
            <a:r>
              <a:rPr lang="en-US" sz="1400" dirty="0" smtClean="0">
                <a:latin typeface="Calibri" pitchFamily="34" charset="0"/>
              </a:rPr>
              <a:t>Importing the dataset you need directory which you stored downloaded dataset</a:t>
            </a:r>
          </a:p>
          <a:p>
            <a:r>
              <a:rPr lang="en-US" sz="1400" dirty="0" smtClean="0">
                <a:latin typeface="Calibri" pitchFamily="34" charset="0"/>
              </a:rPr>
              <a:t>After select the go to variable explore you will find out the dataset right side of the window</a:t>
            </a:r>
          </a:p>
          <a:p>
            <a:r>
              <a:rPr lang="en-US" sz="1400" dirty="0" smtClean="0">
                <a:latin typeface="Calibri" pitchFamily="34" charset="0"/>
              </a:rPr>
              <a:t>Remember in python index always starting from 0 in R index starting from 1</a:t>
            </a:r>
          </a:p>
          <a:p>
            <a:r>
              <a:rPr lang="en-US" sz="1400" dirty="0" smtClean="0">
                <a:latin typeface="Calibri" pitchFamily="34" charset="0"/>
              </a:rPr>
              <a:t>Next we going to create matrix of 3 independent features – X &amp; we will create dependent variable also as y</a:t>
            </a:r>
          </a:p>
          <a:p>
            <a:r>
              <a:rPr lang="en-US" sz="1400" dirty="0" smtClean="0">
                <a:latin typeface="Calibri" pitchFamily="34" charset="0"/>
              </a:rPr>
              <a:t>: means selecting all lines , :-1 means all columns except last one</a:t>
            </a:r>
          </a:p>
          <a:p>
            <a:endParaRPr lang="en-US" sz="1400" dirty="0" smtClean="0">
              <a:latin typeface="Calibri" pitchFamily="34" charset="0"/>
            </a:endParaRPr>
          </a:p>
          <a:p>
            <a:endParaRPr lang="en-US" sz="1400" dirty="0">
              <a:latin typeface="Calibri"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00" y="1"/>
            <a:ext cx="8520600" cy="481262"/>
          </a:xfrm>
        </p:spPr>
        <p:txBody>
          <a:bodyPr/>
          <a:lstStyle/>
          <a:p>
            <a:pPr algn="ctr"/>
            <a:r>
              <a:rPr lang="en-US" sz="2400" dirty="0" smtClean="0">
                <a:latin typeface="Calibri" pitchFamily="34" charset="0"/>
                <a:cs typeface="Arial" pitchFamily="34" charset="0"/>
              </a:rPr>
              <a:t>MISSING DATA,TRAINING &amp;TESTING,FEATURE SCALING</a:t>
            </a:r>
            <a:endParaRPr lang="en-US" sz="2400" dirty="0">
              <a:latin typeface="Calibri" pitchFamily="34" charset="0"/>
              <a:cs typeface="Arial" pitchFamily="34" charset="0"/>
            </a:endParaRPr>
          </a:p>
        </p:txBody>
      </p:sp>
      <p:sp>
        <p:nvSpPr>
          <p:cNvPr id="3" name="Text Placeholder 2"/>
          <p:cNvSpPr>
            <a:spLocks noGrp="1"/>
          </p:cNvSpPr>
          <p:nvPr>
            <p:ph type="body" idx="1"/>
          </p:nvPr>
        </p:nvSpPr>
        <p:spPr>
          <a:xfrm>
            <a:off x="0" y="465220"/>
            <a:ext cx="9144000" cy="4678280"/>
          </a:xfrm>
        </p:spPr>
        <p:txBody>
          <a:bodyPr/>
          <a:lstStyle/>
          <a:p>
            <a:r>
              <a:rPr lang="en-US" sz="1200" dirty="0" smtClean="0">
                <a:latin typeface="Calibri" pitchFamily="34" charset="0"/>
              </a:rPr>
              <a:t>I</a:t>
            </a:r>
            <a:r>
              <a:rPr lang="en-US" sz="1400" dirty="0" smtClean="0">
                <a:latin typeface="Calibri" pitchFamily="34" charset="0"/>
              </a:rPr>
              <a:t>n given dataset 2 missing data found as this is small data we cannot remove the observation or line so we will found the mean </a:t>
            </a:r>
          </a:p>
          <a:p>
            <a:r>
              <a:rPr lang="en-US" sz="1400" dirty="0" smtClean="0">
                <a:latin typeface="Calibri" pitchFamily="34" charset="0"/>
              </a:rPr>
              <a:t>In this case we will use </a:t>
            </a:r>
            <a:r>
              <a:rPr lang="en-US" sz="1400" dirty="0" err="1" smtClean="0">
                <a:latin typeface="Calibri" pitchFamily="34" charset="0"/>
              </a:rPr>
              <a:t>scikit</a:t>
            </a:r>
            <a:r>
              <a:rPr lang="en-US" sz="1400" dirty="0" smtClean="0">
                <a:latin typeface="Calibri" pitchFamily="34" charset="0"/>
              </a:rPr>
              <a:t> learn package which is very </a:t>
            </a:r>
            <a:r>
              <a:rPr lang="en-US" sz="1400" dirty="0" err="1" smtClean="0">
                <a:latin typeface="Calibri" pitchFamily="34" charset="0"/>
              </a:rPr>
              <a:t>very</a:t>
            </a:r>
            <a:r>
              <a:rPr lang="en-US" sz="1400" dirty="0" smtClean="0">
                <a:latin typeface="Calibri" pitchFamily="34" charset="0"/>
              </a:rPr>
              <a:t> important , entire machine learning we will use SCIKIT </a:t>
            </a:r>
          </a:p>
          <a:p>
            <a:r>
              <a:rPr lang="en-US" sz="1400" dirty="0" err="1" smtClean="0">
                <a:latin typeface="Calibri" pitchFamily="34" charset="0"/>
              </a:rPr>
              <a:t>Sklearn-scikit</a:t>
            </a:r>
            <a:r>
              <a:rPr lang="en-US" sz="1400" dirty="0" smtClean="0">
                <a:latin typeface="Calibri" pitchFamily="34" charset="0"/>
              </a:rPr>
              <a:t> learn, from </a:t>
            </a:r>
            <a:r>
              <a:rPr lang="en-US" sz="1400" dirty="0" err="1" smtClean="0">
                <a:latin typeface="Calibri" pitchFamily="34" charset="0"/>
              </a:rPr>
              <a:t>sckit</a:t>
            </a:r>
            <a:r>
              <a:rPr lang="en-US" sz="1400" dirty="0" smtClean="0">
                <a:latin typeface="Calibri" pitchFamily="34" charset="0"/>
              </a:rPr>
              <a:t> learn import library  imputer class which allow us to take care of missing data</a:t>
            </a:r>
          </a:p>
          <a:p>
            <a:r>
              <a:rPr lang="en-US" sz="1400" dirty="0" smtClean="0">
                <a:latin typeface="Calibri" pitchFamily="34" charset="0"/>
              </a:rPr>
              <a:t>Create object  imputer and replaced mean value with </a:t>
            </a:r>
            <a:r>
              <a:rPr lang="en-US" sz="1400" dirty="0" err="1" smtClean="0">
                <a:latin typeface="Calibri" pitchFamily="34" charset="0"/>
              </a:rPr>
              <a:t>NaN</a:t>
            </a:r>
            <a:r>
              <a:rPr lang="en-US" sz="1400" dirty="0" smtClean="0">
                <a:latin typeface="Calibri" pitchFamily="34" charset="0"/>
              </a:rPr>
              <a:t>  and we will check in the </a:t>
            </a:r>
            <a:r>
              <a:rPr lang="en-US" sz="1400" dirty="0" err="1" smtClean="0">
                <a:latin typeface="Calibri" pitchFamily="34" charset="0"/>
              </a:rPr>
              <a:t>google</a:t>
            </a:r>
            <a:r>
              <a:rPr lang="en-US" sz="1400" dirty="0" smtClean="0">
                <a:latin typeface="Calibri" pitchFamily="34" charset="0"/>
              </a:rPr>
              <a:t> sheet</a:t>
            </a:r>
          </a:p>
          <a:p>
            <a:r>
              <a:rPr lang="en-US" sz="1400" dirty="0" smtClean="0">
                <a:latin typeface="Calibri" pitchFamily="34" charset="0"/>
              </a:rPr>
              <a:t>Given dataset country and purchase are 2 categorical value , now we will check how to work on missing value on categorical data</a:t>
            </a:r>
          </a:p>
          <a:p>
            <a:r>
              <a:rPr lang="en-US" sz="1400" dirty="0" smtClean="0">
                <a:latin typeface="Calibri" pitchFamily="34" charset="0"/>
              </a:rPr>
              <a:t>ML models are based on </a:t>
            </a:r>
            <a:r>
              <a:rPr lang="en-US" sz="1400" dirty="0" err="1" smtClean="0">
                <a:latin typeface="Calibri" pitchFamily="34" charset="0"/>
              </a:rPr>
              <a:t>mathmetical</a:t>
            </a:r>
            <a:r>
              <a:rPr lang="en-US" sz="1400" dirty="0" smtClean="0">
                <a:latin typeface="Calibri" pitchFamily="34" charset="0"/>
              </a:rPr>
              <a:t> equation so categorical data is not accepted</a:t>
            </a:r>
          </a:p>
          <a:p>
            <a:r>
              <a:rPr lang="en-US" sz="1400" dirty="0" err="1" smtClean="0">
                <a:latin typeface="Calibri" pitchFamily="34" charset="0"/>
              </a:rPr>
              <a:t>Onehotencoder</a:t>
            </a:r>
            <a:r>
              <a:rPr lang="en-US" sz="1400" dirty="0" smtClean="0">
                <a:latin typeface="Calibri" pitchFamily="34" charset="0"/>
              </a:rPr>
              <a:t> is used for dummy variable &amp; </a:t>
            </a:r>
            <a:r>
              <a:rPr lang="en-US" sz="1400" dirty="0" err="1" smtClean="0">
                <a:latin typeface="Calibri" pitchFamily="34" charset="0"/>
              </a:rPr>
              <a:t>laberlendoer</a:t>
            </a:r>
            <a:r>
              <a:rPr lang="en-US" sz="1400" dirty="0" smtClean="0">
                <a:latin typeface="Calibri" pitchFamily="34" charset="0"/>
              </a:rPr>
              <a:t> for categorical features we will use </a:t>
            </a:r>
            <a:r>
              <a:rPr lang="en-US" sz="1400" dirty="0" err="1" smtClean="0">
                <a:latin typeface="Calibri" pitchFamily="34" charset="0"/>
              </a:rPr>
              <a:t>labelencoder</a:t>
            </a:r>
            <a:endParaRPr lang="en-US" sz="1400" dirty="0" smtClean="0">
              <a:latin typeface="Calibri" pitchFamily="34" charset="0"/>
            </a:endParaRPr>
          </a:p>
          <a:p>
            <a:r>
              <a:rPr lang="en-US" sz="1400" dirty="0" smtClean="0">
                <a:latin typeface="Calibri" pitchFamily="34" charset="0"/>
              </a:rPr>
              <a:t>Next fitting the model in training or testing phase   </a:t>
            </a:r>
          </a:p>
          <a:p>
            <a:r>
              <a:rPr lang="en-US" sz="1400" dirty="0" smtClean="0">
                <a:latin typeface="Calibri" pitchFamily="34" charset="0"/>
              </a:rPr>
              <a:t>Build the machine learning model using training data and test the model performance from the dataset</a:t>
            </a:r>
          </a:p>
          <a:p>
            <a:r>
              <a:rPr lang="en-US" sz="1400" dirty="0" smtClean="0">
                <a:latin typeface="Calibri" pitchFamily="34" charset="0"/>
              </a:rPr>
              <a:t>CROSS VALIDATION new library used for  training and testing </a:t>
            </a:r>
          </a:p>
          <a:p>
            <a:r>
              <a:rPr lang="en-US" sz="1400" dirty="0" smtClean="0">
                <a:latin typeface="Calibri" pitchFamily="34" charset="0"/>
              </a:rPr>
              <a:t>FEATURE SCALING also more import because it scale the entire dataset equal array format</a:t>
            </a:r>
          </a:p>
          <a:p>
            <a:r>
              <a:rPr lang="en-US" sz="1400" dirty="0" smtClean="0">
                <a:latin typeface="Calibri" pitchFamily="34" charset="0"/>
              </a:rPr>
              <a:t>As per dataset age column range from 27 to 50 </a:t>
            </a:r>
            <a:r>
              <a:rPr lang="en-US" sz="1400" dirty="0" err="1" smtClean="0">
                <a:latin typeface="Calibri" pitchFamily="34" charset="0"/>
              </a:rPr>
              <a:t>sal</a:t>
            </a:r>
            <a:r>
              <a:rPr lang="en-US" sz="1400" dirty="0" smtClean="0">
                <a:latin typeface="Calibri" pitchFamily="34" charset="0"/>
              </a:rPr>
              <a:t> from 40000 to 90000 contains numeric no.  Variables are not on same scale this will cause some issue, lot of ml based on EUCLIDIAN DISTANCE</a:t>
            </a:r>
          </a:p>
          <a:p>
            <a:r>
              <a:rPr lang="en-US" sz="1400" dirty="0" smtClean="0">
                <a:latin typeface="Calibri" pitchFamily="34" charset="0"/>
              </a:rPr>
              <a:t>Just compare observation with 9</a:t>
            </a:r>
            <a:r>
              <a:rPr lang="en-US" sz="1400" baseline="30000" dirty="0" smtClean="0">
                <a:latin typeface="Calibri" pitchFamily="34" charset="0"/>
              </a:rPr>
              <a:t>th</a:t>
            </a:r>
            <a:r>
              <a:rPr lang="en-US" sz="1400" dirty="0" smtClean="0">
                <a:latin typeface="Calibri" pitchFamily="34" charset="0"/>
              </a:rPr>
              <a:t> row and 3th row  = (79000-48000 = 31000)  31000) </a:t>
            </a:r>
            <a:r>
              <a:rPr lang="en-US" sz="1400" dirty="0" err="1" smtClean="0">
                <a:latin typeface="Calibri" pitchFamily="34" charset="0"/>
              </a:rPr>
              <a:t>squre</a:t>
            </a:r>
            <a:r>
              <a:rPr lang="en-US" sz="1400" dirty="0" smtClean="0">
                <a:latin typeface="Calibri" pitchFamily="34" charset="0"/>
              </a:rPr>
              <a:t> = 9610000 (48-27=21) 21 square = 441 you can see square huge </a:t>
            </a:r>
            <a:r>
              <a:rPr lang="en-US" sz="1400" dirty="0" err="1" smtClean="0">
                <a:latin typeface="Calibri" pitchFamily="34" charset="0"/>
              </a:rPr>
              <a:t>differen</a:t>
            </a:r>
            <a:r>
              <a:rPr lang="en-US" sz="1400" dirty="0" smtClean="0">
                <a:latin typeface="Calibri" pitchFamily="34" charset="0"/>
              </a:rPr>
              <a:t> these 2 variable are not on same scale that’s why we have to do same scale and We can scale using </a:t>
            </a:r>
            <a:r>
              <a:rPr lang="en-US" sz="1400" dirty="0" err="1" smtClean="0">
                <a:latin typeface="Calibri" pitchFamily="34" charset="0"/>
              </a:rPr>
              <a:t>standardisation</a:t>
            </a:r>
            <a:r>
              <a:rPr lang="en-US" sz="1400" dirty="0" smtClean="0">
                <a:latin typeface="Calibri" pitchFamily="34" charset="0"/>
              </a:rPr>
              <a:t> and </a:t>
            </a:r>
            <a:r>
              <a:rPr lang="en-US" sz="1400" dirty="0" err="1" smtClean="0">
                <a:latin typeface="Calibri" pitchFamily="34" charset="0"/>
              </a:rPr>
              <a:t>Normalisation</a:t>
            </a:r>
            <a:r>
              <a:rPr lang="en-US" sz="1400" dirty="0" smtClean="0">
                <a:latin typeface="Calibri" pitchFamily="34" charset="0"/>
              </a:rPr>
              <a:t> </a:t>
            </a:r>
          </a:p>
          <a:p>
            <a:pPr>
              <a:buNone/>
            </a:pPr>
            <a:endParaRPr lang="en-US" sz="1400" dirty="0" smtClean="0">
              <a:latin typeface="Calibri" pitchFamily="34" charset="0"/>
            </a:endParaRPr>
          </a:p>
          <a:p>
            <a:pPr>
              <a:buNone/>
            </a:pPr>
            <a:r>
              <a:rPr lang="en-US" sz="1400" dirty="0" smtClean="0">
                <a:latin typeface="Calibri" pitchFamily="34" charset="0"/>
              </a:rPr>
              <a:t> </a:t>
            </a:r>
          </a:p>
          <a:p>
            <a:endParaRPr lang="en-US" sz="1400" dirty="0" smtClean="0">
              <a:latin typeface="Calibri" pitchFamily="34" charset="0"/>
            </a:endParaRPr>
          </a:p>
          <a:p>
            <a:endParaRPr lang="en-US" sz="1400" dirty="0" smtClean="0">
              <a:latin typeface="Calibri" pitchFamily="34" charset="0"/>
            </a:endParaRPr>
          </a:p>
          <a:p>
            <a:pPr>
              <a:buNone/>
            </a:pPr>
            <a:endParaRPr lang="en-US" sz="1400" dirty="0">
              <a:latin typeface="Calibri"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00" y="1"/>
            <a:ext cx="8520600" cy="441434"/>
          </a:xfrm>
        </p:spPr>
        <p:txBody>
          <a:bodyPr/>
          <a:lstStyle/>
          <a:p>
            <a:pPr algn="ctr"/>
            <a:r>
              <a:rPr lang="en-US" sz="2400" dirty="0" smtClean="0">
                <a:latin typeface="+mn-lt"/>
              </a:rPr>
              <a:t>DATA PRE-PROCESSING CODE</a:t>
            </a:r>
            <a:endParaRPr lang="en-US" sz="2400" dirty="0">
              <a:latin typeface="+mn-lt"/>
            </a:endParaRPr>
          </a:p>
        </p:txBody>
      </p:sp>
      <p:sp>
        <p:nvSpPr>
          <p:cNvPr id="3" name="Text Placeholder 2"/>
          <p:cNvSpPr>
            <a:spLocks noGrp="1"/>
          </p:cNvSpPr>
          <p:nvPr>
            <p:ph type="body" idx="1"/>
          </p:nvPr>
        </p:nvSpPr>
        <p:spPr>
          <a:xfrm>
            <a:off x="0" y="483477"/>
            <a:ext cx="9144000" cy="4660024"/>
          </a:xfrm>
        </p:spPr>
        <p:txBody>
          <a:bodyPr/>
          <a:lstStyle/>
          <a:p>
            <a:endParaRPr lang="en-US" dirty="0"/>
          </a:p>
        </p:txBody>
      </p:sp>
      <p:pic>
        <p:nvPicPr>
          <p:cNvPr id="4" name="Picture 3" descr="data preprocessing template.PNG"/>
          <p:cNvPicPr>
            <a:picLocks noChangeAspect="1"/>
          </p:cNvPicPr>
          <p:nvPr/>
        </p:nvPicPr>
        <p:blipFill>
          <a:blip r:embed="rId2"/>
          <a:stretch>
            <a:fillRect/>
          </a:stretch>
        </p:blipFill>
        <p:spPr>
          <a:xfrm>
            <a:off x="2" y="525518"/>
            <a:ext cx="9143999" cy="4617983"/>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00" y="1"/>
            <a:ext cx="8520600" cy="449179"/>
          </a:xfrm>
        </p:spPr>
        <p:txBody>
          <a:bodyPr/>
          <a:lstStyle/>
          <a:p>
            <a:pPr algn="ctr"/>
            <a:r>
              <a:rPr lang="en-US" sz="2400" dirty="0" smtClean="0">
                <a:latin typeface="+mn-lt"/>
              </a:rPr>
              <a:t>SIMPLE LINEAR REGRESSION</a:t>
            </a:r>
            <a:endParaRPr lang="en-US" sz="2400" dirty="0">
              <a:latin typeface="+mn-lt"/>
            </a:endParaRPr>
          </a:p>
        </p:txBody>
      </p:sp>
      <p:sp>
        <p:nvSpPr>
          <p:cNvPr id="3" name="Text Placeholder 2"/>
          <p:cNvSpPr>
            <a:spLocks noGrp="1"/>
          </p:cNvSpPr>
          <p:nvPr>
            <p:ph type="body" idx="1"/>
          </p:nvPr>
        </p:nvSpPr>
        <p:spPr>
          <a:xfrm>
            <a:off x="0" y="449179"/>
            <a:ext cx="9144000" cy="4694321"/>
          </a:xfrm>
        </p:spPr>
        <p:txBody>
          <a:bodyPr/>
          <a:lstStyle/>
          <a:p>
            <a:r>
              <a:rPr lang="en-US" sz="1400" dirty="0" smtClean="0">
                <a:latin typeface="Calibri" pitchFamily="34" charset="0"/>
              </a:rPr>
              <a:t>I have company salary dataset, let me use this dataset for  regression &amp; as per the given dataset company selected 30 random peoples with years of exp &amp; salary of an person, they asked data scientist what is the correlation of </a:t>
            </a:r>
            <a:r>
              <a:rPr lang="en-US" sz="1400" dirty="0" err="1" smtClean="0">
                <a:latin typeface="Calibri" pitchFamily="34" charset="0"/>
              </a:rPr>
              <a:t>sal</a:t>
            </a:r>
            <a:r>
              <a:rPr lang="en-US" sz="1400" dirty="0" smtClean="0">
                <a:latin typeface="Calibri" pitchFamily="34" charset="0"/>
              </a:rPr>
              <a:t> and experience, may be new company , new company want to build the strategies &amp; being a data scientist you have to find out the what is the correlation &amp; what is the best fit line and what is the business value. Being a data scientist you need to build the model</a:t>
            </a:r>
          </a:p>
          <a:p>
            <a:r>
              <a:rPr lang="en-US" sz="1400" dirty="0" smtClean="0">
                <a:latin typeface="Calibri" pitchFamily="34" charset="0"/>
              </a:rPr>
              <a:t>As per dataset max exp 10.5 year but if a person with exp 15 yrs  how to use our model to predict the salary</a:t>
            </a:r>
          </a:p>
          <a:p>
            <a:r>
              <a:rPr lang="en-US" sz="1400" dirty="0" smtClean="0">
                <a:latin typeface="Calibri" pitchFamily="34" charset="0"/>
              </a:rPr>
              <a:t>Simple liner regression only 1 dependent variable and 1 independent variable</a:t>
            </a:r>
          </a:p>
          <a:p>
            <a:r>
              <a:rPr lang="en-US" sz="1400" dirty="0" smtClean="0">
                <a:latin typeface="Calibri" pitchFamily="34" charset="0"/>
              </a:rPr>
              <a:t>How peoples salary depends on exp as per SLR model to find the </a:t>
            </a:r>
            <a:r>
              <a:rPr lang="en-US" sz="1400" dirty="0" err="1" smtClean="0">
                <a:latin typeface="Calibri" pitchFamily="34" charset="0"/>
              </a:rPr>
              <a:t>bestfit</a:t>
            </a:r>
            <a:r>
              <a:rPr lang="en-US" sz="1400" dirty="0" smtClean="0">
                <a:latin typeface="Calibri" pitchFamily="34" charset="0"/>
              </a:rPr>
              <a:t> line</a:t>
            </a:r>
          </a:p>
          <a:p>
            <a:r>
              <a:rPr lang="en-US" sz="1400" dirty="0" smtClean="0">
                <a:latin typeface="Calibri" pitchFamily="34" charset="0"/>
              </a:rPr>
              <a:t>Constant mean the point where the line cross the </a:t>
            </a:r>
            <a:r>
              <a:rPr lang="en-US" sz="1400" dirty="0" err="1" smtClean="0">
                <a:latin typeface="Calibri" pitchFamily="34" charset="0"/>
              </a:rPr>
              <a:t>verticle</a:t>
            </a:r>
            <a:r>
              <a:rPr lang="en-US" sz="1400" dirty="0" smtClean="0">
                <a:latin typeface="Calibri" pitchFamily="34" charset="0"/>
              </a:rPr>
              <a:t> axes . As per graph person who don’t have any exp then his </a:t>
            </a:r>
            <a:r>
              <a:rPr lang="en-US" sz="1400" dirty="0" err="1" smtClean="0">
                <a:latin typeface="Calibri" pitchFamily="34" charset="0"/>
              </a:rPr>
              <a:t>sal</a:t>
            </a:r>
            <a:r>
              <a:rPr lang="en-US" sz="1400" dirty="0" smtClean="0">
                <a:latin typeface="Calibri" pitchFamily="34" charset="0"/>
              </a:rPr>
              <a:t> would be 30k that &amp; coefficient is slope of the best fit line. As per given example – some one have 4to 5 yr exp that why he is earning of 10k extra … if coefficient is less then </a:t>
            </a:r>
            <a:r>
              <a:rPr lang="en-US" sz="1400" dirty="0" err="1" smtClean="0">
                <a:latin typeface="Calibri" pitchFamily="34" charset="0"/>
              </a:rPr>
              <a:t>sal</a:t>
            </a:r>
            <a:r>
              <a:rPr lang="en-US" sz="1400" dirty="0" smtClean="0">
                <a:latin typeface="Calibri" pitchFamily="34" charset="0"/>
              </a:rPr>
              <a:t> would be less  if slope is greater the </a:t>
            </a:r>
            <a:r>
              <a:rPr lang="en-US" sz="1400" dirty="0" err="1" smtClean="0">
                <a:latin typeface="Calibri" pitchFamily="34" charset="0"/>
              </a:rPr>
              <a:t>sal</a:t>
            </a:r>
            <a:r>
              <a:rPr lang="en-US" sz="1400" dirty="0" smtClean="0">
                <a:latin typeface="Calibri" pitchFamily="34" charset="0"/>
              </a:rPr>
              <a:t> is greater</a:t>
            </a:r>
          </a:p>
          <a:p>
            <a:r>
              <a:rPr lang="en-US" sz="1400" dirty="0" smtClean="0">
                <a:latin typeface="Calibri" pitchFamily="34" charset="0"/>
              </a:rPr>
              <a:t>How to find the best fit line -  ( ORDINARY LEAST SQUARES ) – ex.- + tells the  person have 10 yr of exp 1000 dollar, Black line tells  us where the person should be sitting  according to the model </a:t>
            </a:r>
            <a:r>
              <a:rPr lang="en-US" sz="1400" dirty="0" err="1" smtClean="0">
                <a:latin typeface="Calibri" pitchFamily="34" charset="0"/>
              </a:rPr>
              <a:t>sal</a:t>
            </a:r>
            <a:r>
              <a:rPr lang="en-US" sz="1400" dirty="0" smtClean="0">
                <a:latin typeface="Calibri" pitchFamily="34" charset="0"/>
              </a:rPr>
              <a:t> about 80k dollar</a:t>
            </a:r>
          </a:p>
          <a:p>
            <a:r>
              <a:rPr lang="en-US" sz="1400" dirty="0" smtClean="0">
                <a:latin typeface="Calibri" pitchFamily="34" charset="0"/>
              </a:rPr>
              <a:t>Red cross – Yi  (actual </a:t>
            </a:r>
            <a:r>
              <a:rPr lang="en-US" sz="1400" dirty="0" err="1" smtClean="0">
                <a:latin typeface="Calibri" pitchFamily="34" charset="0"/>
              </a:rPr>
              <a:t>obersvation</a:t>
            </a:r>
            <a:r>
              <a:rPr lang="en-US" sz="1400" dirty="0" smtClean="0">
                <a:latin typeface="Calibri" pitchFamily="34" charset="0"/>
              </a:rPr>
              <a:t> //actual </a:t>
            </a:r>
            <a:r>
              <a:rPr lang="en-US" sz="1400" dirty="0" err="1" smtClean="0">
                <a:latin typeface="Calibri" pitchFamily="34" charset="0"/>
              </a:rPr>
              <a:t>sal</a:t>
            </a:r>
            <a:r>
              <a:rPr lang="en-US" sz="1400" dirty="0" smtClean="0">
                <a:latin typeface="Calibri" pitchFamily="34" charset="0"/>
              </a:rPr>
              <a:t>) &amp; green cross –Yi^ model observation // model predicted </a:t>
            </a:r>
            <a:r>
              <a:rPr lang="en-US" sz="1400" dirty="0" err="1" smtClean="0">
                <a:latin typeface="Calibri" pitchFamily="34" charset="0"/>
              </a:rPr>
              <a:t>sal</a:t>
            </a:r>
            <a:endParaRPr lang="en-US" sz="1400" dirty="0" smtClean="0">
              <a:latin typeface="Calibri" pitchFamily="34" charset="0"/>
            </a:endParaRPr>
          </a:p>
          <a:p>
            <a:r>
              <a:rPr lang="en-US" sz="1400" dirty="0" smtClean="0">
                <a:latin typeface="Calibri" pitchFamily="34" charset="0"/>
              </a:rPr>
              <a:t>To find the best fit line – take sum of the distance and take the sum of the square to find the minimum</a:t>
            </a:r>
          </a:p>
          <a:p>
            <a:r>
              <a:rPr lang="en-US" sz="1400" dirty="0" smtClean="0">
                <a:latin typeface="Calibri" pitchFamily="34" charset="0"/>
              </a:rPr>
              <a:t>Linear </a:t>
            </a:r>
            <a:r>
              <a:rPr lang="en-US" sz="1400" dirty="0" err="1" smtClean="0">
                <a:latin typeface="Calibri" pitchFamily="34" charset="0"/>
              </a:rPr>
              <a:t>regre</a:t>
            </a:r>
            <a:r>
              <a:rPr lang="en-US" sz="1400" dirty="0" smtClean="0">
                <a:latin typeface="Calibri" pitchFamily="34" charset="0"/>
              </a:rPr>
              <a:t> draw all possible trend line and counts the sum of squares &amp; find the minimum of squares also called as ORDINARY LEAST SQUARES</a:t>
            </a:r>
          </a:p>
          <a:p>
            <a:endParaRPr lang="en-US" sz="1400" dirty="0" smtClean="0">
              <a:latin typeface="Calibri" pitchFamily="34" charset="0"/>
            </a:endParaRPr>
          </a:p>
          <a:p>
            <a:endParaRPr lang="en-US" sz="1400" dirty="0" smtClean="0">
              <a:latin typeface="Calibri" pitchFamily="34" charset="0"/>
            </a:endParaRPr>
          </a:p>
          <a:p>
            <a:endParaRPr lang="en-US" sz="1400" dirty="0">
              <a:latin typeface="Calibri"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US" dirty="0" smtClean="0"/>
              <a:t>Simple Linear Regression..</a:t>
            </a:r>
            <a:endParaRPr lang="en-US" dirty="0"/>
          </a:p>
        </p:txBody>
      </p:sp>
      <p:pic>
        <p:nvPicPr>
          <p:cNvPr id="3" name="Picture 2" descr="simple linear OLS.PNG"/>
          <p:cNvPicPr>
            <a:picLocks noChangeAspect="1"/>
          </p:cNvPicPr>
          <p:nvPr/>
        </p:nvPicPr>
        <p:blipFill>
          <a:blip r:embed="rId2"/>
          <a:stretch>
            <a:fillRect/>
          </a:stretch>
        </p:blipFill>
        <p:spPr>
          <a:xfrm>
            <a:off x="0" y="1"/>
            <a:ext cx="9144000" cy="4183117"/>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00" y="0"/>
            <a:ext cx="8520600" cy="420414"/>
          </a:xfrm>
        </p:spPr>
        <p:txBody>
          <a:bodyPr/>
          <a:lstStyle/>
          <a:p>
            <a:pPr algn="ctr"/>
            <a:r>
              <a:rPr lang="en-US" sz="2400" dirty="0" smtClean="0"/>
              <a:t>SIMPLE LINEAR REGRESSION MODEL</a:t>
            </a:r>
            <a:endParaRPr lang="en-US" sz="2400" dirty="0"/>
          </a:p>
        </p:txBody>
      </p:sp>
      <p:sp>
        <p:nvSpPr>
          <p:cNvPr id="3" name="Text Placeholder 2"/>
          <p:cNvSpPr>
            <a:spLocks noGrp="1"/>
          </p:cNvSpPr>
          <p:nvPr>
            <p:ph type="body" idx="1"/>
          </p:nvPr>
        </p:nvSpPr>
        <p:spPr>
          <a:xfrm>
            <a:off x="0" y="451945"/>
            <a:ext cx="9144000" cy="4691555"/>
          </a:xfrm>
        </p:spPr>
        <p:txBody>
          <a:bodyPr/>
          <a:lstStyle/>
          <a:p>
            <a:r>
              <a:rPr lang="en-US" sz="1400" dirty="0" smtClean="0">
                <a:latin typeface="Calibri" pitchFamily="34" charset="0"/>
              </a:rPr>
              <a:t>1</a:t>
            </a:r>
            <a:r>
              <a:rPr lang="en-US" sz="1400" baseline="30000" dirty="0" smtClean="0">
                <a:latin typeface="Calibri" pitchFamily="34" charset="0"/>
              </a:rPr>
              <a:t>st</a:t>
            </a:r>
            <a:r>
              <a:rPr lang="en-US" sz="1400" dirty="0" smtClean="0">
                <a:latin typeface="Calibri" pitchFamily="34" charset="0"/>
              </a:rPr>
              <a:t> step is importing the library like </a:t>
            </a:r>
            <a:r>
              <a:rPr lang="en-US" sz="1400" dirty="0" err="1" smtClean="0">
                <a:latin typeface="Calibri" pitchFamily="34" charset="0"/>
              </a:rPr>
              <a:t>numpy,matplotlib</a:t>
            </a:r>
            <a:r>
              <a:rPr lang="en-US" sz="1400" dirty="0" smtClean="0">
                <a:latin typeface="Calibri" pitchFamily="34" charset="0"/>
              </a:rPr>
              <a:t> and pandas</a:t>
            </a:r>
          </a:p>
          <a:p>
            <a:r>
              <a:rPr lang="en-US" sz="1400" dirty="0" smtClean="0">
                <a:latin typeface="Calibri" pitchFamily="34" charset="0"/>
              </a:rPr>
              <a:t>2</a:t>
            </a:r>
            <a:r>
              <a:rPr lang="en-US" sz="1400" baseline="30000" dirty="0" smtClean="0">
                <a:latin typeface="Calibri" pitchFamily="34" charset="0"/>
              </a:rPr>
              <a:t>nd</a:t>
            </a:r>
            <a:r>
              <a:rPr lang="en-US" sz="1400" dirty="0" smtClean="0">
                <a:latin typeface="Calibri" pitchFamily="34" charset="0"/>
              </a:rPr>
              <a:t> step is data preprocess set the correct path as working directory and you should get the dataset </a:t>
            </a:r>
          </a:p>
          <a:p>
            <a:r>
              <a:rPr lang="en-US" sz="1400" dirty="0" smtClean="0">
                <a:latin typeface="Calibri" pitchFamily="34" charset="0"/>
              </a:rPr>
              <a:t>3</a:t>
            </a:r>
            <a:r>
              <a:rPr lang="en-US" sz="1400" baseline="30000" dirty="0" smtClean="0">
                <a:latin typeface="Calibri" pitchFamily="34" charset="0"/>
              </a:rPr>
              <a:t>rd</a:t>
            </a:r>
            <a:r>
              <a:rPr lang="en-US" sz="1400" dirty="0" smtClean="0">
                <a:latin typeface="Calibri" pitchFamily="34" charset="0"/>
              </a:rPr>
              <a:t> step is training and testing the set . After complete the data preprocess you assign 30% to the test set and remember model is always build on training set only and after build the trained model then apply for test set to get the predict actually salary and predicted </a:t>
            </a:r>
            <a:r>
              <a:rPr lang="en-US" sz="1400" dirty="0" err="1" smtClean="0">
                <a:latin typeface="Calibri" pitchFamily="34" charset="0"/>
              </a:rPr>
              <a:t>sal</a:t>
            </a:r>
            <a:r>
              <a:rPr lang="en-US" sz="1400" dirty="0" smtClean="0">
                <a:latin typeface="Calibri" pitchFamily="34" charset="0"/>
              </a:rPr>
              <a:t> &amp; lets compare between </a:t>
            </a:r>
            <a:r>
              <a:rPr lang="en-US" sz="1400" dirty="0" err="1" smtClean="0">
                <a:latin typeface="Calibri" pitchFamily="34" charset="0"/>
              </a:rPr>
              <a:t>X_train,y_train</a:t>
            </a:r>
            <a:r>
              <a:rPr lang="en-US" sz="1400" dirty="0" smtClean="0">
                <a:latin typeface="Calibri" pitchFamily="34" charset="0"/>
              </a:rPr>
              <a:t> // X-test, </a:t>
            </a:r>
            <a:r>
              <a:rPr lang="en-US" sz="1400" dirty="0" err="1" smtClean="0">
                <a:latin typeface="Calibri" pitchFamily="34" charset="0"/>
              </a:rPr>
              <a:t>y_test</a:t>
            </a:r>
            <a:endParaRPr lang="en-US" sz="1400" dirty="0" smtClean="0">
              <a:latin typeface="Calibri" pitchFamily="34" charset="0"/>
            </a:endParaRPr>
          </a:p>
          <a:p>
            <a:r>
              <a:rPr lang="en-US" sz="1400" dirty="0" smtClean="0">
                <a:latin typeface="Calibri" pitchFamily="34" charset="0"/>
              </a:rPr>
              <a:t>Simple linear regression feature scaling is not required because library will take care of it</a:t>
            </a:r>
          </a:p>
          <a:p>
            <a:r>
              <a:rPr lang="en-US" sz="1400" dirty="0" smtClean="0">
                <a:latin typeface="Calibri" pitchFamily="34" charset="0"/>
              </a:rPr>
              <a:t>4</a:t>
            </a:r>
            <a:r>
              <a:rPr lang="en-US" sz="1400" baseline="30000" dirty="0" smtClean="0">
                <a:latin typeface="Calibri" pitchFamily="34" charset="0"/>
              </a:rPr>
              <a:t>tth</a:t>
            </a:r>
            <a:r>
              <a:rPr lang="en-US" sz="1400" dirty="0" smtClean="0">
                <a:latin typeface="Calibri" pitchFamily="34" charset="0"/>
              </a:rPr>
              <a:t> step is fitting simple linear regression to the training set from SCIKIT LEARN.  We will import </a:t>
            </a:r>
            <a:r>
              <a:rPr lang="en-US" sz="1400" dirty="0" err="1" smtClean="0">
                <a:latin typeface="Calibri" pitchFamily="34" charset="0"/>
              </a:rPr>
              <a:t>LinearRegression</a:t>
            </a:r>
            <a:r>
              <a:rPr lang="en-US" sz="1400" dirty="0" smtClean="0">
                <a:latin typeface="Calibri" pitchFamily="34" charset="0"/>
              </a:rPr>
              <a:t> class from </a:t>
            </a:r>
            <a:r>
              <a:rPr lang="en-US" sz="1400" dirty="0" err="1" smtClean="0">
                <a:latin typeface="Calibri" pitchFamily="34" charset="0"/>
              </a:rPr>
              <a:t>sklearn</a:t>
            </a:r>
            <a:r>
              <a:rPr lang="en-US" sz="1400" dirty="0" smtClean="0">
                <a:latin typeface="Calibri" pitchFamily="34" charset="0"/>
              </a:rPr>
              <a:t>. </a:t>
            </a:r>
            <a:r>
              <a:rPr lang="en-US" sz="1400" dirty="0" err="1" smtClean="0">
                <a:latin typeface="Calibri" pitchFamily="34" charset="0"/>
              </a:rPr>
              <a:t>linear_model</a:t>
            </a:r>
            <a:r>
              <a:rPr lang="en-US" sz="1400" dirty="0" smtClean="0">
                <a:latin typeface="Calibri" pitchFamily="34" charset="0"/>
              </a:rPr>
              <a:t>  &amp; we will create a </a:t>
            </a:r>
            <a:r>
              <a:rPr lang="en-US" sz="1400" dirty="0" err="1" smtClean="0">
                <a:latin typeface="Calibri" pitchFamily="34" charset="0"/>
              </a:rPr>
              <a:t>regressor</a:t>
            </a:r>
            <a:r>
              <a:rPr lang="en-US" sz="1400" dirty="0" smtClean="0">
                <a:latin typeface="Calibri" pitchFamily="34" charset="0"/>
              </a:rPr>
              <a:t> object</a:t>
            </a:r>
          </a:p>
          <a:p>
            <a:r>
              <a:rPr lang="en-US" sz="1400" dirty="0" smtClean="0">
                <a:latin typeface="Calibri" pitchFamily="34" charset="0"/>
              </a:rPr>
              <a:t>5</a:t>
            </a:r>
            <a:r>
              <a:rPr lang="en-US" sz="1400" baseline="30000" dirty="0" smtClean="0">
                <a:latin typeface="Calibri" pitchFamily="34" charset="0"/>
              </a:rPr>
              <a:t>th</a:t>
            </a:r>
            <a:r>
              <a:rPr lang="en-US" sz="1400" dirty="0" smtClean="0">
                <a:latin typeface="Calibri" pitchFamily="34" charset="0"/>
              </a:rPr>
              <a:t> step – predicting the test set results , make a distinguish between y-test and y-pred.. Y-test have real </a:t>
            </a:r>
            <a:r>
              <a:rPr lang="en-US" sz="1400" dirty="0" err="1" smtClean="0">
                <a:latin typeface="Calibri" pitchFamily="34" charset="0"/>
              </a:rPr>
              <a:t>sal</a:t>
            </a:r>
            <a:r>
              <a:rPr lang="en-US" sz="1400" dirty="0" smtClean="0">
                <a:latin typeface="Calibri" pitchFamily="34" charset="0"/>
              </a:rPr>
              <a:t> and y-</a:t>
            </a:r>
            <a:r>
              <a:rPr lang="en-US" sz="1400" dirty="0" err="1" smtClean="0">
                <a:latin typeface="Calibri" pitchFamily="34" charset="0"/>
              </a:rPr>
              <a:t>pred</a:t>
            </a:r>
            <a:r>
              <a:rPr lang="en-US" sz="1400" dirty="0" smtClean="0">
                <a:latin typeface="Calibri" pitchFamily="34" charset="0"/>
              </a:rPr>
              <a:t> have predicted </a:t>
            </a:r>
            <a:r>
              <a:rPr lang="en-US" sz="1400" dirty="0" err="1" smtClean="0">
                <a:latin typeface="Calibri" pitchFamily="34" charset="0"/>
              </a:rPr>
              <a:t>sal</a:t>
            </a:r>
            <a:r>
              <a:rPr lang="en-US" sz="1400" dirty="0" smtClean="0">
                <a:latin typeface="Calibri" pitchFamily="34" charset="0"/>
              </a:rPr>
              <a:t>, </a:t>
            </a:r>
            <a:r>
              <a:rPr lang="en-US" sz="1400" dirty="0" err="1" smtClean="0">
                <a:latin typeface="Calibri" pitchFamily="34" charset="0"/>
              </a:rPr>
              <a:t>empl</a:t>
            </a:r>
            <a:r>
              <a:rPr lang="en-US" sz="1400" dirty="0" smtClean="0">
                <a:latin typeface="Calibri" pitchFamily="34" charset="0"/>
              </a:rPr>
              <a:t> real </a:t>
            </a:r>
            <a:r>
              <a:rPr lang="en-US" sz="1400" dirty="0" err="1" smtClean="0">
                <a:latin typeface="Calibri" pitchFamily="34" charset="0"/>
              </a:rPr>
              <a:t>sal</a:t>
            </a:r>
            <a:r>
              <a:rPr lang="en-US" sz="1400" dirty="0" smtClean="0">
                <a:latin typeface="Calibri" pitchFamily="34" charset="0"/>
              </a:rPr>
              <a:t> – 37k but model predicts  40k so keep looking that</a:t>
            </a:r>
          </a:p>
          <a:p>
            <a:r>
              <a:rPr lang="en-US" sz="1400" dirty="0" smtClean="0">
                <a:latin typeface="Calibri" pitchFamily="34" charset="0"/>
              </a:rPr>
              <a:t>6</a:t>
            </a:r>
            <a:r>
              <a:rPr lang="en-US" sz="1400" baseline="30000" dirty="0" smtClean="0">
                <a:latin typeface="Calibri" pitchFamily="34" charset="0"/>
              </a:rPr>
              <a:t>th</a:t>
            </a:r>
            <a:r>
              <a:rPr lang="en-US" sz="1400" dirty="0" smtClean="0">
                <a:latin typeface="Calibri" pitchFamily="34" charset="0"/>
              </a:rPr>
              <a:t> step – visualize the training set &amp; test  result by plotting our observation point using </a:t>
            </a:r>
            <a:r>
              <a:rPr lang="en-US" sz="1400" dirty="0" err="1" smtClean="0">
                <a:latin typeface="Calibri" pitchFamily="34" charset="0"/>
              </a:rPr>
              <a:t>matplotlib.pyplot</a:t>
            </a:r>
            <a:endParaRPr lang="en-US" sz="1400" dirty="0" smtClean="0">
              <a:latin typeface="Calibri" pitchFamily="34" charset="0"/>
            </a:endParaRPr>
          </a:p>
          <a:p>
            <a:r>
              <a:rPr lang="en-US" sz="1400" dirty="0" smtClean="0">
                <a:latin typeface="Calibri" pitchFamily="34" charset="0"/>
              </a:rPr>
              <a:t>Real value – red dotted line &amp; the blue line are the predicted line &amp; our regression line was quite well to approach the linear dependence &amp; some data-points are accuracy prediction </a:t>
            </a:r>
          </a:p>
          <a:p>
            <a:r>
              <a:rPr lang="en-US" sz="1400" dirty="0" smtClean="0">
                <a:latin typeface="Calibri" pitchFamily="34" charset="0"/>
              </a:rPr>
              <a:t>Next we will plot the test set  result &amp; I would say </a:t>
            </a:r>
            <a:r>
              <a:rPr lang="en-US" sz="1400" dirty="0" err="1" smtClean="0">
                <a:latin typeface="Calibri" pitchFamily="34" charset="0"/>
              </a:rPr>
              <a:t>accuraycy</a:t>
            </a:r>
            <a:r>
              <a:rPr lang="en-US" sz="1400" dirty="0" smtClean="0">
                <a:latin typeface="Calibri" pitchFamily="34" charset="0"/>
              </a:rPr>
              <a:t> off 75-80 &amp; it </a:t>
            </a:r>
            <a:r>
              <a:rPr lang="en-US" sz="1400" dirty="0" err="1" smtClean="0">
                <a:latin typeface="Calibri" pitchFamily="34" charset="0"/>
              </a:rPr>
              <a:t>wil</a:t>
            </a:r>
            <a:r>
              <a:rPr lang="en-US" sz="1400" dirty="0" smtClean="0">
                <a:latin typeface="Calibri" pitchFamily="34" charset="0"/>
              </a:rPr>
              <a:t> predict the predicted </a:t>
            </a:r>
            <a:r>
              <a:rPr lang="en-US" sz="1400" dirty="0" err="1" smtClean="0">
                <a:latin typeface="Calibri" pitchFamily="34" charset="0"/>
              </a:rPr>
              <a:t>sal</a:t>
            </a:r>
            <a:r>
              <a:rPr lang="en-US" sz="1400" dirty="0" smtClean="0">
                <a:latin typeface="Calibri" pitchFamily="34" charset="0"/>
              </a:rPr>
              <a:t> &amp; we can figure out the co-relation between these two variable</a:t>
            </a:r>
          </a:p>
          <a:p>
            <a:endParaRPr lang="en-US" sz="1400" dirty="0" smtClean="0">
              <a:latin typeface="Calibri" pitchFamily="34" charset="0"/>
            </a:endParaRPr>
          </a:p>
          <a:p>
            <a:endParaRPr lang="en-US" sz="1400" dirty="0" smtClean="0">
              <a:latin typeface="Calibri" pitchFamily="34" charset="0"/>
            </a:endParaRPr>
          </a:p>
          <a:p>
            <a:endParaRPr lang="en-US" sz="1400" dirty="0" smtClean="0">
              <a:latin typeface="Calibri" pitchFamily="34" charset="0"/>
            </a:endParaRPr>
          </a:p>
          <a:p>
            <a:endParaRPr lang="en-US" sz="1400" dirty="0">
              <a:latin typeface="Calibri"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00" y="1"/>
            <a:ext cx="8520600" cy="493986"/>
          </a:xfrm>
        </p:spPr>
        <p:txBody>
          <a:bodyPr/>
          <a:lstStyle/>
          <a:p>
            <a:pPr algn="ctr"/>
            <a:r>
              <a:rPr lang="en-US" sz="2400" dirty="0" smtClean="0">
                <a:latin typeface="+mn-lt"/>
              </a:rPr>
              <a:t>SIMPLE LINER REGRESSION CODE</a:t>
            </a:r>
            <a:endParaRPr lang="en-US" sz="2400" dirty="0">
              <a:latin typeface="+mn-lt"/>
            </a:endParaRPr>
          </a:p>
        </p:txBody>
      </p:sp>
      <p:sp>
        <p:nvSpPr>
          <p:cNvPr id="3" name="Text Placeholder 2"/>
          <p:cNvSpPr>
            <a:spLocks noGrp="1"/>
          </p:cNvSpPr>
          <p:nvPr>
            <p:ph type="body" idx="1"/>
          </p:nvPr>
        </p:nvSpPr>
        <p:spPr>
          <a:xfrm>
            <a:off x="-1" y="515006"/>
            <a:ext cx="4624553" cy="4628493"/>
          </a:xfrm>
        </p:spPr>
        <p:txBody>
          <a:bodyPr/>
          <a:lstStyle/>
          <a:p>
            <a:endParaRPr lang="en-US" dirty="0"/>
          </a:p>
        </p:txBody>
      </p:sp>
      <p:sp>
        <p:nvSpPr>
          <p:cNvPr id="4" name="Text Placeholder 3"/>
          <p:cNvSpPr>
            <a:spLocks noGrp="1"/>
          </p:cNvSpPr>
          <p:nvPr>
            <p:ph type="body" idx="2"/>
          </p:nvPr>
        </p:nvSpPr>
        <p:spPr>
          <a:xfrm>
            <a:off x="4656085" y="536028"/>
            <a:ext cx="4487917" cy="4607472"/>
          </a:xfrm>
        </p:spPr>
        <p:txBody>
          <a:bodyPr/>
          <a:lstStyle/>
          <a:p>
            <a:endParaRPr lang="en-US" dirty="0"/>
          </a:p>
        </p:txBody>
      </p:sp>
      <p:pic>
        <p:nvPicPr>
          <p:cNvPr id="5" name="Picture 4" descr="SL1.PNG"/>
          <p:cNvPicPr>
            <a:picLocks noChangeAspect="1"/>
          </p:cNvPicPr>
          <p:nvPr/>
        </p:nvPicPr>
        <p:blipFill>
          <a:blip r:embed="rId2"/>
          <a:stretch>
            <a:fillRect/>
          </a:stretch>
        </p:blipFill>
        <p:spPr>
          <a:xfrm>
            <a:off x="2091559" y="515008"/>
            <a:ext cx="7052443" cy="2816772"/>
          </a:xfrm>
          <a:prstGeom prst="rect">
            <a:avLst/>
          </a:prstGeom>
        </p:spPr>
      </p:pic>
      <p:pic>
        <p:nvPicPr>
          <p:cNvPr id="6" name="Picture 5" descr="SL2.PNG"/>
          <p:cNvPicPr>
            <a:picLocks noChangeAspect="1"/>
          </p:cNvPicPr>
          <p:nvPr/>
        </p:nvPicPr>
        <p:blipFill>
          <a:blip r:embed="rId3"/>
          <a:stretch>
            <a:fillRect/>
          </a:stretch>
        </p:blipFill>
        <p:spPr>
          <a:xfrm>
            <a:off x="2049517" y="3300249"/>
            <a:ext cx="7094483" cy="1843252"/>
          </a:xfrm>
          <a:prstGeom prst="rect">
            <a:avLst/>
          </a:prstGeom>
        </p:spPr>
      </p:pic>
      <p:pic>
        <p:nvPicPr>
          <p:cNvPr id="7" name="Picture 6" descr="Regr_dataset.PNG"/>
          <p:cNvPicPr>
            <a:picLocks noChangeAspect="1"/>
          </p:cNvPicPr>
          <p:nvPr/>
        </p:nvPicPr>
        <p:blipFill>
          <a:blip r:embed="rId4"/>
          <a:stretch>
            <a:fillRect/>
          </a:stretch>
        </p:blipFill>
        <p:spPr>
          <a:xfrm>
            <a:off x="2" y="515008"/>
            <a:ext cx="2112577" cy="4628493"/>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00" y="1"/>
            <a:ext cx="8520600" cy="399393"/>
          </a:xfrm>
        </p:spPr>
        <p:txBody>
          <a:bodyPr/>
          <a:lstStyle/>
          <a:p>
            <a:pPr algn="ctr"/>
            <a:r>
              <a:rPr lang="en-US" sz="2400" dirty="0" smtClean="0"/>
              <a:t>MULTIPLE LINEAR REGRESSION</a:t>
            </a:r>
            <a:endParaRPr lang="en-US" sz="2400" dirty="0"/>
          </a:p>
        </p:txBody>
      </p:sp>
      <p:sp>
        <p:nvSpPr>
          <p:cNvPr id="3" name="Text Placeholder 2"/>
          <p:cNvSpPr>
            <a:spLocks noGrp="1"/>
          </p:cNvSpPr>
          <p:nvPr>
            <p:ph type="body" idx="1"/>
          </p:nvPr>
        </p:nvSpPr>
        <p:spPr>
          <a:xfrm>
            <a:off x="0" y="472966"/>
            <a:ext cx="9144000" cy="4670534"/>
          </a:xfrm>
        </p:spPr>
        <p:txBody>
          <a:bodyPr/>
          <a:lstStyle/>
          <a:p>
            <a:r>
              <a:rPr lang="en-US" sz="1400" dirty="0" smtClean="0">
                <a:latin typeface="Calibri" pitchFamily="34" charset="0"/>
              </a:rPr>
              <a:t>The given dataset is for venture capitalist fund , Multiple linear regression dataset given about 50 companies in total and they are extract profit based on the state basis and they already spend huge money for this financial year &amp; company spend al lot of money different portfolio. So the company hired you as data scientist to find the business problem and provide the solution and you should create a model which category is more interest to invest the spend money &amp; which of the category company have to spend that you have to give the solution as per your model to achieve the more profit  and save time</a:t>
            </a:r>
          </a:p>
          <a:p>
            <a:r>
              <a:rPr lang="en-US" sz="1400" dirty="0" smtClean="0">
                <a:latin typeface="Calibri" pitchFamily="34" charset="0"/>
              </a:rPr>
              <a:t>Profit are Depend variable &amp; rest of thing are independent variable </a:t>
            </a:r>
          </a:p>
          <a:p>
            <a:r>
              <a:rPr lang="en-US" sz="1400" dirty="0" smtClean="0">
                <a:latin typeface="Calibri" pitchFamily="34" charset="0"/>
              </a:rPr>
              <a:t>When you create a model you always omit one dummy variable</a:t>
            </a:r>
          </a:p>
          <a:p>
            <a:r>
              <a:rPr lang="en-US" sz="1400" dirty="0" smtClean="0">
                <a:latin typeface="Calibri" pitchFamily="34" charset="0"/>
              </a:rPr>
              <a:t>Always remember significance lever you need to consider as 0.05 &amp; always the remember P-value</a:t>
            </a:r>
          </a:p>
          <a:p>
            <a:r>
              <a:rPr lang="en-US" sz="1400" dirty="0" smtClean="0">
                <a:latin typeface="Calibri" pitchFamily="34" charset="0"/>
              </a:rPr>
              <a:t>Label encoder changed from text to number</a:t>
            </a:r>
          </a:p>
          <a:p>
            <a:r>
              <a:rPr lang="en-US" sz="1400" dirty="0" smtClean="0">
                <a:latin typeface="Calibri" pitchFamily="34" charset="0"/>
              </a:rPr>
              <a:t>One hot encoder is for convert to categorical data</a:t>
            </a:r>
          </a:p>
          <a:p>
            <a:r>
              <a:rPr lang="en-US" sz="1400" dirty="0" smtClean="0">
                <a:latin typeface="Calibri" pitchFamily="34" charset="0"/>
              </a:rPr>
              <a:t>You need to add the constant to get the correct  equation </a:t>
            </a:r>
          </a:p>
          <a:p>
            <a:pPr>
              <a:buNone/>
            </a:pPr>
            <a:r>
              <a:rPr lang="en-US" sz="1400" dirty="0" smtClean="0">
                <a:latin typeface="Calibri" pitchFamily="34" charset="0"/>
              </a:rPr>
              <a:t>while backward elimination that’s why we have to add 1  as </a:t>
            </a:r>
          </a:p>
          <a:p>
            <a:pPr>
              <a:buNone/>
            </a:pPr>
            <a:r>
              <a:rPr lang="en-US" sz="1400" dirty="0" smtClean="0">
                <a:latin typeface="Calibri" pitchFamily="34" charset="0"/>
              </a:rPr>
              <a:t>constant using append function</a:t>
            </a:r>
          </a:p>
          <a:p>
            <a:r>
              <a:rPr lang="en-US" sz="1400" dirty="0" smtClean="0">
                <a:latin typeface="Calibri" pitchFamily="34" charset="0"/>
              </a:rPr>
              <a:t>OLS – ordinary least </a:t>
            </a:r>
            <a:r>
              <a:rPr lang="en-US" sz="1400" dirty="0" err="1" smtClean="0">
                <a:latin typeface="Calibri" pitchFamily="34" charset="0"/>
              </a:rPr>
              <a:t>squaer</a:t>
            </a:r>
            <a:r>
              <a:rPr lang="en-US" sz="1400" dirty="0" smtClean="0">
                <a:latin typeface="Calibri" pitchFamily="34" charset="0"/>
              </a:rPr>
              <a:t> algorithm</a:t>
            </a:r>
          </a:p>
          <a:p>
            <a:r>
              <a:rPr lang="en-US" sz="1400" dirty="0" err="1" smtClean="0">
                <a:latin typeface="Calibri" pitchFamily="34" charset="0"/>
              </a:rPr>
              <a:t>Endog</a:t>
            </a:r>
            <a:r>
              <a:rPr lang="en-US" sz="1400" dirty="0" smtClean="0">
                <a:latin typeface="Calibri" pitchFamily="34" charset="0"/>
              </a:rPr>
              <a:t> – Dependent </a:t>
            </a:r>
            <a:r>
              <a:rPr lang="en-US" sz="1400" dirty="0" err="1" smtClean="0">
                <a:latin typeface="Calibri" pitchFamily="34" charset="0"/>
              </a:rPr>
              <a:t>Var</a:t>
            </a:r>
            <a:r>
              <a:rPr lang="en-US" sz="1400" dirty="0" smtClean="0">
                <a:latin typeface="Calibri" pitchFamily="34" charset="0"/>
              </a:rPr>
              <a:t>, </a:t>
            </a:r>
            <a:r>
              <a:rPr lang="en-US" sz="1400" dirty="0" err="1" smtClean="0">
                <a:latin typeface="Calibri" pitchFamily="34" charset="0"/>
              </a:rPr>
              <a:t>Exdog</a:t>
            </a:r>
            <a:r>
              <a:rPr lang="en-US" sz="1400" dirty="0" smtClean="0">
                <a:latin typeface="Calibri" pitchFamily="34" charset="0"/>
              </a:rPr>
              <a:t> – </a:t>
            </a:r>
            <a:r>
              <a:rPr lang="en-US" sz="1400" dirty="0" err="1" smtClean="0">
                <a:latin typeface="Calibri" pitchFamily="34" charset="0"/>
              </a:rPr>
              <a:t>X_optimal</a:t>
            </a:r>
            <a:r>
              <a:rPr lang="en-US" sz="1400" dirty="0" smtClean="0">
                <a:latin typeface="Calibri" pitchFamily="34" charset="0"/>
              </a:rPr>
              <a:t> </a:t>
            </a:r>
            <a:r>
              <a:rPr lang="en-US" sz="1400" dirty="0" err="1" smtClean="0">
                <a:latin typeface="Calibri" pitchFamily="34" charset="0"/>
              </a:rPr>
              <a:t>var</a:t>
            </a:r>
            <a:endParaRPr lang="en-US" sz="1400" dirty="0" smtClean="0">
              <a:latin typeface="Calibri" pitchFamily="34" charset="0"/>
            </a:endParaRPr>
          </a:p>
          <a:p>
            <a:endParaRPr lang="en-US" sz="1400" dirty="0" smtClean="0">
              <a:latin typeface="Calibri" pitchFamily="34" charset="0"/>
            </a:endParaRPr>
          </a:p>
          <a:p>
            <a:pPr>
              <a:buNone/>
            </a:pPr>
            <a:endParaRPr lang="en-US" sz="1400" dirty="0" smtClean="0">
              <a:latin typeface="Calibri" pitchFamily="34" charset="0"/>
            </a:endParaRPr>
          </a:p>
          <a:p>
            <a:endParaRPr lang="en-US" sz="1400" dirty="0" smtClean="0">
              <a:latin typeface="Calibri" pitchFamily="34" charset="0"/>
            </a:endParaRPr>
          </a:p>
          <a:p>
            <a:endParaRPr lang="en-US" sz="1400" dirty="0" smtClean="0">
              <a:latin typeface="Calibri" pitchFamily="34" charset="0"/>
            </a:endParaRPr>
          </a:p>
          <a:p>
            <a:endParaRPr lang="en-US" sz="1400" dirty="0" smtClean="0">
              <a:latin typeface="Calibri" pitchFamily="34" charset="0"/>
            </a:endParaRPr>
          </a:p>
          <a:p>
            <a:endParaRPr lang="en-US" sz="1400" dirty="0" smtClean="0">
              <a:latin typeface="Calibri" pitchFamily="34" charset="0"/>
            </a:endParaRPr>
          </a:p>
          <a:p>
            <a:endParaRPr lang="en-US" sz="1400" dirty="0">
              <a:latin typeface="Calibri" pitchFamily="34" charset="0"/>
            </a:endParaRPr>
          </a:p>
        </p:txBody>
      </p:sp>
      <p:pic>
        <p:nvPicPr>
          <p:cNvPr id="4" name="Picture 3" descr="Backward Elimination.PNG"/>
          <p:cNvPicPr>
            <a:picLocks noChangeAspect="1"/>
          </p:cNvPicPr>
          <p:nvPr/>
        </p:nvPicPr>
        <p:blipFill>
          <a:blip r:embed="rId2"/>
          <a:stretch>
            <a:fillRect/>
          </a:stretch>
        </p:blipFill>
        <p:spPr>
          <a:xfrm>
            <a:off x="4750677" y="2774731"/>
            <a:ext cx="4393324" cy="2368770"/>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00" y="1"/>
            <a:ext cx="8520600" cy="399393"/>
          </a:xfrm>
        </p:spPr>
        <p:txBody>
          <a:bodyPr/>
          <a:lstStyle/>
          <a:p>
            <a:pPr algn="ctr"/>
            <a:r>
              <a:rPr lang="en-US" sz="2400" dirty="0" smtClean="0"/>
              <a:t>MULTIPLE LINEAR REGRESSION CODE</a:t>
            </a:r>
            <a:endParaRPr lang="en-US" sz="2400" dirty="0"/>
          </a:p>
        </p:txBody>
      </p:sp>
      <p:sp>
        <p:nvSpPr>
          <p:cNvPr id="3" name="Text Placeholder 2"/>
          <p:cNvSpPr>
            <a:spLocks noGrp="1"/>
          </p:cNvSpPr>
          <p:nvPr>
            <p:ph type="body" idx="1"/>
          </p:nvPr>
        </p:nvSpPr>
        <p:spPr>
          <a:xfrm>
            <a:off x="0" y="472966"/>
            <a:ext cx="9144000" cy="4670534"/>
          </a:xfrm>
        </p:spPr>
        <p:txBody>
          <a:bodyPr/>
          <a:lstStyle/>
          <a:p>
            <a:endParaRPr lang="en-US" dirty="0"/>
          </a:p>
        </p:txBody>
      </p:sp>
      <p:pic>
        <p:nvPicPr>
          <p:cNvPr id="4" name="Picture 3" descr="MLR1.PNG"/>
          <p:cNvPicPr>
            <a:picLocks noChangeAspect="1"/>
          </p:cNvPicPr>
          <p:nvPr/>
        </p:nvPicPr>
        <p:blipFill>
          <a:blip r:embed="rId2"/>
          <a:stretch>
            <a:fillRect/>
          </a:stretch>
        </p:blipFill>
        <p:spPr>
          <a:xfrm>
            <a:off x="0" y="472967"/>
            <a:ext cx="8177048" cy="2995447"/>
          </a:xfrm>
          <a:prstGeom prst="rect">
            <a:avLst/>
          </a:prstGeom>
        </p:spPr>
      </p:pic>
      <p:pic>
        <p:nvPicPr>
          <p:cNvPr id="5" name="Picture 4" descr="MLR2.PNG"/>
          <p:cNvPicPr>
            <a:picLocks noChangeAspect="1"/>
          </p:cNvPicPr>
          <p:nvPr/>
        </p:nvPicPr>
        <p:blipFill>
          <a:blip r:embed="rId3"/>
          <a:stretch>
            <a:fillRect/>
          </a:stretch>
        </p:blipFill>
        <p:spPr>
          <a:xfrm>
            <a:off x="4" y="2711668"/>
            <a:ext cx="8923280" cy="2431832"/>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00" y="0"/>
            <a:ext cx="8520600" cy="399011"/>
          </a:xfrm>
        </p:spPr>
        <p:txBody>
          <a:bodyPr/>
          <a:lstStyle/>
          <a:p>
            <a:r>
              <a:rPr lang="en-US" sz="2400" dirty="0" smtClean="0"/>
              <a:t>POLYNOMIAL REGRESSION</a:t>
            </a:r>
            <a:endParaRPr lang="en-US" sz="2400" dirty="0"/>
          </a:p>
        </p:txBody>
      </p:sp>
      <p:sp>
        <p:nvSpPr>
          <p:cNvPr id="3" name="Text Placeholder 2"/>
          <p:cNvSpPr>
            <a:spLocks noGrp="1"/>
          </p:cNvSpPr>
          <p:nvPr>
            <p:ph type="body" idx="1"/>
          </p:nvPr>
        </p:nvSpPr>
        <p:spPr>
          <a:xfrm>
            <a:off x="0" y="465512"/>
            <a:ext cx="9144000" cy="4677987"/>
          </a:xfrm>
        </p:spPr>
        <p:txBody>
          <a:bodyPr/>
          <a:lstStyle/>
          <a:p>
            <a:r>
              <a:rPr lang="en-US" sz="1400" dirty="0" smtClean="0"/>
              <a:t>When the data is not fit with the linear at that  that time we are using  polynomial regression</a:t>
            </a:r>
          </a:p>
          <a:p>
            <a:r>
              <a:rPr lang="en-US" sz="1400" dirty="0" smtClean="0"/>
              <a:t> Polynomial regressions are curve type with degree 2 slightly different between  simple linear regression</a:t>
            </a:r>
          </a:p>
          <a:p>
            <a:r>
              <a:rPr lang="en-US" sz="1400" dirty="0" smtClean="0"/>
              <a:t>We worked before SLR, MLR &amp; now we are going to polynomial regression and from now we are going to build new  non-linear </a:t>
            </a:r>
            <a:r>
              <a:rPr lang="en-US" sz="1400" dirty="0" err="1" smtClean="0"/>
              <a:t>regressor</a:t>
            </a:r>
            <a:r>
              <a:rPr lang="en-US" sz="1400" dirty="0" smtClean="0"/>
              <a:t> next polynomial </a:t>
            </a:r>
            <a:r>
              <a:rPr lang="en-US" sz="1400" dirty="0" err="1" smtClean="0"/>
              <a:t>regressor</a:t>
            </a:r>
            <a:r>
              <a:rPr lang="en-US" sz="1400" dirty="0" smtClean="0"/>
              <a:t>,  </a:t>
            </a:r>
            <a:r>
              <a:rPr lang="en-US" sz="1400" dirty="0" err="1" smtClean="0"/>
              <a:t>svr</a:t>
            </a:r>
            <a:r>
              <a:rPr lang="en-US" sz="1400" dirty="0" smtClean="0"/>
              <a:t> and random forest </a:t>
            </a:r>
            <a:r>
              <a:rPr lang="en-US" sz="1400" dirty="0" err="1" smtClean="0"/>
              <a:t>regressor</a:t>
            </a:r>
            <a:endParaRPr lang="en-US" sz="1400" dirty="0" smtClean="0"/>
          </a:p>
          <a:p>
            <a:r>
              <a:rPr lang="en-US" sz="1400" dirty="0" smtClean="0"/>
              <a:t>Lets check the dataset called position salary .. Copy to the data preprocessing part</a:t>
            </a:r>
          </a:p>
          <a:p>
            <a:r>
              <a:rPr lang="en-US" sz="1400" dirty="0" smtClean="0"/>
              <a:t>We are HR team working for big company to hire new  employee and new employee is </a:t>
            </a:r>
            <a:r>
              <a:rPr lang="en-US" sz="1400" dirty="0" err="1" smtClean="0"/>
              <a:t>greate</a:t>
            </a:r>
            <a:r>
              <a:rPr lang="en-US" sz="1400" dirty="0" smtClean="0"/>
              <a:t> and good fit for the company  and its going to be negotiate what going to be the future salary of new employee and company and he have 20+ yrs exp and he earned 160k annual salary in previous company and this employee is asking  more then 160k however HR team called to previous employee to check  what are the previous salary structure of the previous comp</a:t>
            </a:r>
          </a:p>
          <a:p>
            <a:r>
              <a:rPr lang="en-US" sz="1400" dirty="0" smtClean="0"/>
              <a:t>Now this HR simply analysis run an excel sheet , he found that non-linear between position level and salary</a:t>
            </a:r>
          </a:p>
          <a:p>
            <a:r>
              <a:rPr lang="en-US" sz="1400" dirty="0" smtClean="0"/>
              <a:t>At the time of analysis HR person found  other relevant  info that  new employee has been regional manager  for 2yrs now and  4 yrs to take jump from regional manager to partner , this employee is kind of half way between level 5 and level 6  &amp; now HR will tell the using regression technique can u tell me new employee </a:t>
            </a:r>
            <a:r>
              <a:rPr lang="en-US" sz="1400" dirty="0" err="1" smtClean="0"/>
              <a:t>sal</a:t>
            </a:r>
            <a:r>
              <a:rPr lang="en-US" sz="1400" dirty="0" smtClean="0"/>
              <a:t> 160k telling lie or not</a:t>
            </a:r>
          </a:p>
          <a:p>
            <a:r>
              <a:rPr lang="en-US" sz="1400" dirty="0" smtClean="0"/>
              <a:t>Index starting for python from 0 &amp; to hire a previous employee where he fits to check </a:t>
            </a:r>
            <a:r>
              <a:rPr lang="en-US" sz="1400" dirty="0" err="1" smtClean="0"/>
              <a:t>wheather</a:t>
            </a:r>
            <a:r>
              <a:rPr lang="en-US" sz="1400" dirty="0" smtClean="0"/>
              <a:t> he is fall at 6.5 level is more then 160K so we are just figuring how our model can predict this lets look at this now</a:t>
            </a:r>
          </a:p>
          <a:p>
            <a:r>
              <a:rPr lang="en-US" sz="1400" dirty="0" smtClean="0"/>
              <a:t>To compare them I build linear regression and polynomial regression and </a:t>
            </a:r>
            <a:r>
              <a:rPr lang="en-US" sz="1400" dirty="0" err="1" smtClean="0"/>
              <a:t>poly_reg</a:t>
            </a:r>
            <a:r>
              <a:rPr lang="en-US" sz="1400" dirty="0" smtClean="0"/>
              <a:t> object is going to be  transfer from X matrix to </a:t>
            </a:r>
            <a:r>
              <a:rPr lang="en-US" sz="1400" dirty="0" err="1" smtClean="0"/>
              <a:t>X_poly</a:t>
            </a:r>
            <a:r>
              <a:rPr lang="en-US" sz="1400" dirty="0" smtClean="0"/>
              <a:t>, </a:t>
            </a:r>
            <a:r>
              <a:rPr lang="en-US" sz="1400" dirty="0" err="1" smtClean="0"/>
              <a:t>PolynomialFeatures</a:t>
            </a:r>
            <a:r>
              <a:rPr lang="en-US" sz="1400" dirty="0" smtClean="0"/>
              <a:t> are the class and we have to mention degree = 2 ,3,4</a:t>
            </a:r>
          </a:p>
          <a:p>
            <a:r>
              <a:rPr lang="en-US" sz="1400" dirty="0" smtClean="0"/>
              <a:t>Real observation points are red and prediction points are in blue color</a:t>
            </a:r>
          </a:p>
          <a:p>
            <a:r>
              <a:rPr lang="en-US" sz="1400" dirty="0" smtClean="0"/>
              <a:t>Liner output is wrong prediction because as per model  </a:t>
            </a:r>
            <a:r>
              <a:rPr lang="en-US" sz="1400" dirty="0" err="1" smtClean="0"/>
              <a:t>ceo</a:t>
            </a:r>
            <a:r>
              <a:rPr lang="en-US" sz="1400" dirty="0" smtClean="0"/>
              <a:t> actual </a:t>
            </a:r>
            <a:r>
              <a:rPr lang="en-US" sz="1400" dirty="0" err="1" smtClean="0"/>
              <a:t>sal</a:t>
            </a:r>
            <a:r>
              <a:rPr lang="en-US" sz="1400" dirty="0" smtClean="0"/>
              <a:t> – 120k but models showing </a:t>
            </a:r>
            <a:r>
              <a:rPr lang="en-US" sz="1400" dirty="0" err="1" smtClean="0"/>
              <a:t>sal</a:t>
            </a:r>
            <a:r>
              <a:rPr lang="en-US" sz="1400" dirty="0" smtClean="0"/>
              <a:t> is  6k which is wrong and CEO is completely unhappy and same check with 6.5 yr ex he would be more happy</a:t>
            </a:r>
          </a:p>
          <a:p>
            <a:r>
              <a:rPr lang="en-US" sz="1400" dirty="0" smtClean="0"/>
              <a:t>Now we will </a:t>
            </a:r>
            <a:r>
              <a:rPr lang="en-US" sz="1400" dirty="0" err="1" smtClean="0"/>
              <a:t>visualise</a:t>
            </a:r>
            <a:r>
              <a:rPr lang="en-US" sz="1400" dirty="0" smtClean="0"/>
              <a:t> using poly visualization &amp; finally we conclude that this is honest employee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462455"/>
          </a:xfrm>
        </p:spPr>
        <p:txBody>
          <a:bodyPr/>
          <a:lstStyle/>
          <a:p>
            <a:r>
              <a:rPr lang="en-US" sz="2400" dirty="0" smtClean="0"/>
              <a:t>POLYNOMIAL REGRESSION CODE</a:t>
            </a:r>
            <a:endParaRPr lang="en-US" sz="2400" dirty="0"/>
          </a:p>
        </p:txBody>
      </p:sp>
      <p:sp>
        <p:nvSpPr>
          <p:cNvPr id="3" name="Text Placeholder 2"/>
          <p:cNvSpPr>
            <a:spLocks noGrp="1"/>
          </p:cNvSpPr>
          <p:nvPr>
            <p:ph type="body" idx="1"/>
          </p:nvPr>
        </p:nvSpPr>
        <p:spPr>
          <a:xfrm>
            <a:off x="0" y="493986"/>
            <a:ext cx="9144000" cy="4649514"/>
          </a:xfrm>
        </p:spPr>
        <p:txBody>
          <a:bodyPr/>
          <a:lstStyle/>
          <a:p>
            <a:endParaRPr lang="en-US" sz="1600" dirty="0"/>
          </a:p>
        </p:txBody>
      </p:sp>
      <p:pic>
        <p:nvPicPr>
          <p:cNvPr id="4" name="Picture 3" descr="PLR1.PNG"/>
          <p:cNvPicPr>
            <a:picLocks noChangeAspect="1"/>
          </p:cNvPicPr>
          <p:nvPr/>
        </p:nvPicPr>
        <p:blipFill>
          <a:blip r:embed="rId2"/>
          <a:stretch>
            <a:fillRect/>
          </a:stretch>
        </p:blipFill>
        <p:spPr>
          <a:xfrm>
            <a:off x="42041" y="430924"/>
            <a:ext cx="4834760" cy="2396359"/>
          </a:xfrm>
          <a:prstGeom prst="rect">
            <a:avLst/>
          </a:prstGeom>
        </p:spPr>
      </p:pic>
      <p:pic>
        <p:nvPicPr>
          <p:cNvPr id="5" name="Picture 4" descr="PLR2.PNG"/>
          <p:cNvPicPr>
            <a:picLocks noChangeAspect="1"/>
          </p:cNvPicPr>
          <p:nvPr/>
        </p:nvPicPr>
        <p:blipFill>
          <a:blip r:embed="rId3"/>
          <a:stretch>
            <a:fillRect/>
          </a:stretch>
        </p:blipFill>
        <p:spPr>
          <a:xfrm>
            <a:off x="1" y="2816773"/>
            <a:ext cx="4014951" cy="2132780"/>
          </a:xfrm>
          <a:prstGeom prst="rect">
            <a:avLst/>
          </a:prstGeom>
        </p:spPr>
      </p:pic>
      <p:pic>
        <p:nvPicPr>
          <p:cNvPr id="6" name="Picture 5" descr="PLR.PNG"/>
          <p:cNvPicPr>
            <a:picLocks noChangeAspect="1"/>
          </p:cNvPicPr>
          <p:nvPr/>
        </p:nvPicPr>
        <p:blipFill>
          <a:blip r:embed="rId4"/>
          <a:stretch>
            <a:fillRect/>
          </a:stretch>
        </p:blipFill>
        <p:spPr>
          <a:xfrm>
            <a:off x="6028517" y="566742"/>
            <a:ext cx="3115483" cy="4310058"/>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00" y="1"/>
            <a:ext cx="8520600" cy="399392"/>
          </a:xfrm>
        </p:spPr>
        <p:txBody>
          <a:bodyPr/>
          <a:lstStyle/>
          <a:p>
            <a:r>
              <a:rPr lang="en-US" sz="2400" dirty="0" smtClean="0"/>
              <a:t>SVR REGRESSOR</a:t>
            </a:r>
            <a:endParaRPr lang="en-US" sz="2400" dirty="0"/>
          </a:p>
        </p:txBody>
      </p:sp>
      <p:sp>
        <p:nvSpPr>
          <p:cNvPr id="3" name="Text Placeholder 2"/>
          <p:cNvSpPr>
            <a:spLocks noGrp="1"/>
          </p:cNvSpPr>
          <p:nvPr>
            <p:ph type="body" idx="1"/>
          </p:nvPr>
        </p:nvSpPr>
        <p:spPr>
          <a:xfrm>
            <a:off x="0" y="472966"/>
            <a:ext cx="9144000" cy="4670534"/>
          </a:xfrm>
        </p:spPr>
        <p:txBody>
          <a:bodyPr/>
          <a:lstStyle/>
          <a:p>
            <a:r>
              <a:rPr lang="en-US" sz="1400" dirty="0" smtClean="0"/>
              <a:t>SVR support linear and non-linear regression</a:t>
            </a:r>
          </a:p>
          <a:p>
            <a:r>
              <a:rPr lang="en-US" sz="1400" dirty="0" smtClean="0"/>
              <a:t>Instead of trying to fit the largest possible street between two classes while limiting margin </a:t>
            </a:r>
            <a:r>
              <a:rPr lang="en-US" sz="1400" dirty="0" err="1" smtClean="0"/>
              <a:t>violation,SVR</a:t>
            </a:r>
            <a:r>
              <a:rPr lang="en-US" sz="1400" dirty="0" smtClean="0"/>
              <a:t> tries to  fit as many instances as possible on the street while limiting margin violations</a:t>
            </a:r>
          </a:p>
          <a:p>
            <a:r>
              <a:rPr lang="en-US" sz="1400" dirty="0" smtClean="0"/>
              <a:t>The width of the street is controlled by a hyper parameter epsilon ( Hyper parameters are valued decided outside of model training process whereas parameters are found out during the model training. Hyper-parameter </a:t>
            </a:r>
            <a:r>
              <a:rPr lang="en-US" sz="1400" dirty="0" err="1" smtClean="0"/>
              <a:t>tunning</a:t>
            </a:r>
            <a:r>
              <a:rPr lang="en-US" sz="1400" dirty="0" smtClean="0"/>
              <a:t> is an important step in ML OR Data science model building process.)</a:t>
            </a:r>
          </a:p>
          <a:p>
            <a:r>
              <a:rPr lang="en-US" sz="1400" dirty="0" err="1" smtClean="0"/>
              <a:t>Svr</a:t>
            </a:r>
            <a:r>
              <a:rPr lang="en-US" sz="1400" dirty="0" smtClean="0"/>
              <a:t> performs </a:t>
            </a:r>
            <a:r>
              <a:rPr lang="en-US" sz="1400" dirty="0" err="1" smtClean="0"/>
              <a:t>lin</a:t>
            </a:r>
            <a:endParaRPr lang="en-US" sz="1400" dirty="0" smtClean="0"/>
          </a:p>
          <a:p>
            <a:pPr>
              <a:buNone/>
            </a:pP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7864</TotalTime>
  <Words>2066</Words>
  <Application>Microsoft Office PowerPoint</Application>
  <PresentationFormat>On-screen Show (16:9)</PresentationFormat>
  <Paragraphs>102</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DATA PREPROCESSING STEPS</vt:lpstr>
      <vt:lpstr>HOW TO DOWNLOAD THE DATASET</vt:lpstr>
      <vt:lpstr>IMPORT THE LIBRARIES USING PYTHON &amp; IMPORTING THE DATASET</vt:lpstr>
      <vt:lpstr>MISSING DATA,TRAINING &amp;TESTING,FEATURE SCALING</vt:lpstr>
      <vt:lpstr>DATA PRE-PROCESSING CODE</vt:lpstr>
      <vt:lpstr>SIMPLE LINEAR REGRESSION</vt:lpstr>
      <vt:lpstr>PowerPoint Presentation</vt:lpstr>
      <vt:lpstr>SIMPLE LINEAR REGRESSION MODEL</vt:lpstr>
      <vt:lpstr>SIMPLE LINER REGRESSION CODE</vt:lpstr>
      <vt:lpstr>MULTIPLE LINEAR REGRESSION</vt:lpstr>
      <vt:lpstr>MULTIPLE LINEAR REGRESSION CODE</vt:lpstr>
      <vt:lpstr>POLYNOMIAL REGRESSION</vt:lpstr>
      <vt:lpstr>POLYNOMIAL REGRESSION CODE</vt:lpstr>
      <vt:lpstr>SVR REGRESSOR</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dc:title>
  <cp:lastModifiedBy>kodi prakash senapati</cp:lastModifiedBy>
  <cp:revision>175</cp:revision>
  <dcterms:modified xsi:type="dcterms:W3CDTF">2020-03-26T10:51:17Z</dcterms:modified>
</cp:coreProperties>
</file>